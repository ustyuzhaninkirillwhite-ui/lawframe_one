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6e974fced24418" /><Relationship Type="http://schemas.openxmlformats.org/officeDocument/2006/relationships/extended-properties" Target="/docProps/app.xml" Id="R0e22f6c2a6604cf4" /><Relationship Type="http://schemas.openxmlformats.org/officeDocument/2006/relationships/officeDocument" Target="/ppt/presentation.xml" Id="Rbace0f8c336c4e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b127d9e14b4d84"/>
  </p:sldMasterIdLst>
  <p:notesMasterIdLst>
    <p:notesMasterId xmlns:r="http://schemas.openxmlformats.org/officeDocument/2006/relationships" r:id="Rf0392dc339f84de6"/>
  </p:notesMasterIdLst>
  <p:sldIdLst>
    <p:sldId xmlns:r="http://schemas.openxmlformats.org/officeDocument/2006/relationships" id="256" r:id="R8a1ecf89ce0a4b09"/>
    <p:sldId xmlns:r="http://schemas.openxmlformats.org/officeDocument/2006/relationships" id="257" r:id="Rf3198b3076ff44d7"/>
    <p:sldId xmlns:r="http://schemas.openxmlformats.org/officeDocument/2006/relationships" id="258" r:id="R151dc9a6442c44d9"/>
    <p:sldId xmlns:r="http://schemas.openxmlformats.org/officeDocument/2006/relationships" id="259" r:id="R2f89c03796844323"/>
    <p:sldId xmlns:r="http://schemas.openxmlformats.org/officeDocument/2006/relationships" id="260" r:id="R6d917240184248de"/>
    <p:sldId xmlns:r="http://schemas.openxmlformats.org/officeDocument/2006/relationships" id="261" r:id="Rae399443cc8f4841"/>
    <p:sldId xmlns:r="http://schemas.openxmlformats.org/officeDocument/2006/relationships" id="262" r:id="R05e4a7ac41544c18"/>
    <p:sldId xmlns:r="http://schemas.openxmlformats.org/officeDocument/2006/relationships" id="263" r:id="R2445eddf9d4f4b10"/>
    <p:sldId xmlns:r="http://schemas.openxmlformats.org/officeDocument/2006/relationships" id="264" r:id="R49afca79dd4241c6"/>
    <p:sldId xmlns:r="http://schemas.openxmlformats.org/officeDocument/2006/relationships" id="265" r:id="R90b0e39441134e19"/>
    <p:sldId xmlns:r="http://schemas.openxmlformats.org/officeDocument/2006/relationships" id="266" r:id="R7609cbfb912d4ace"/>
    <p:sldId xmlns:r="http://schemas.openxmlformats.org/officeDocument/2006/relationships" id="267" r:id="R11ef1cc60d1c497d"/>
    <p:sldId xmlns:r="http://schemas.openxmlformats.org/officeDocument/2006/relationships" id="268" r:id="Rfed4f112025a484d"/>
    <p:sldId xmlns:r="http://schemas.openxmlformats.org/officeDocument/2006/relationships" id="269" r:id="R97dbe3d81ba24f9e"/>
    <p:sldId xmlns:r="http://schemas.openxmlformats.org/officeDocument/2006/relationships" id="270" r:id="Re8a60b5ecd1d4004"/>
    <p:sldId xmlns:r="http://schemas.openxmlformats.org/officeDocument/2006/relationships" id="271" r:id="R66e23cda3bce4ba2"/>
    <p:sldId xmlns:r="http://schemas.openxmlformats.org/officeDocument/2006/relationships" id="272" r:id="R85b816e14bf44e4d"/>
    <p:sldId xmlns:r="http://schemas.openxmlformats.org/officeDocument/2006/relationships" id="273" r:id="R2e0a89990803430d"/>
    <p:sldId xmlns:r="http://schemas.openxmlformats.org/officeDocument/2006/relationships" id="274" r:id="R69052b07b585472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127d9e14b4d84" /><Relationship Type="http://schemas.openxmlformats.org/officeDocument/2006/relationships/theme" Target="/ppt/theme/theme1.xml" Id="Redff57f27dc149b2" /><Relationship Type="http://schemas.openxmlformats.org/officeDocument/2006/relationships/notesMaster" Target="/ppt/notesMasters/notesMaster1.xml" Id="Rf0392dc339f84de6" /><Relationship Type="http://schemas.openxmlformats.org/officeDocument/2006/relationships/presProps" Target="/ppt/presProps.xml" Id="Rfff38719f9814fe2" /><Relationship Type="http://schemas.openxmlformats.org/officeDocument/2006/relationships/viewProps" Target="/ppt/viewProps.xml" Id="Ree55001737c847d4" /><Relationship Type="http://schemas.openxmlformats.org/officeDocument/2006/relationships/tableStyles" Target="/ppt/tableStyles.xml" Id="Rc2bad82da2dd471b" /><Relationship Type="http://schemas.openxmlformats.org/officeDocument/2006/relationships/slide" Target="/ppt/slides/slide1.xml" Id="R8a1ecf89ce0a4b09" /><Relationship Type="http://schemas.openxmlformats.org/officeDocument/2006/relationships/slide" Target="/ppt/slides/slide2.xml" Id="Rf3198b3076ff44d7" /><Relationship Type="http://schemas.openxmlformats.org/officeDocument/2006/relationships/slide" Target="/ppt/slides/slide3.xml" Id="R151dc9a6442c44d9" /><Relationship Type="http://schemas.openxmlformats.org/officeDocument/2006/relationships/slide" Target="/ppt/slides/slide4.xml" Id="R2f89c03796844323" /><Relationship Type="http://schemas.openxmlformats.org/officeDocument/2006/relationships/slide" Target="/ppt/slides/slide5.xml" Id="R6d917240184248de" /><Relationship Type="http://schemas.openxmlformats.org/officeDocument/2006/relationships/slide" Target="/ppt/slides/slide6.xml" Id="Rae399443cc8f4841" /><Relationship Type="http://schemas.openxmlformats.org/officeDocument/2006/relationships/slide" Target="/ppt/slides/slide7.xml" Id="R05e4a7ac41544c18" /><Relationship Type="http://schemas.openxmlformats.org/officeDocument/2006/relationships/slide" Target="/ppt/slides/slide8.xml" Id="R2445eddf9d4f4b10" /><Relationship Type="http://schemas.openxmlformats.org/officeDocument/2006/relationships/slide" Target="/ppt/slides/slide9.xml" Id="R49afca79dd4241c6" /><Relationship Type="http://schemas.openxmlformats.org/officeDocument/2006/relationships/slide" Target="/ppt/slides/slide10.xml" Id="R90b0e39441134e19" /><Relationship Type="http://schemas.openxmlformats.org/officeDocument/2006/relationships/slide" Target="/ppt/slides/slide11.xml" Id="R7609cbfb912d4ace" /><Relationship Type="http://schemas.openxmlformats.org/officeDocument/2006/relationships/slide" Target="/ppt/slides/slide12.xml" Id="R11ef1cc60d1c497d" /><Relationship Type="http://schemas.openxmlformats.org/officeDocument/2006/relationships/slide" Target="/ppt/slides/slide13.xml" Id="Rfed4f112025a484d" /><Relationship Type="http://schemas.openxmlformats.org/officeDocument/2006/relationships/slide" Target="/ppt/slides/slide14.xml" Id="R97dbe3d81ba24f9e" /><Relationship Type="http://schemas.openxmlformats.org/officeDocument/2006/relationships/slide" Target="/ppt/slides/slide15.xml" Id="Re8a60b5ecd1d4004" /><Relationship Type="http://schemas.openxmlformats.org/officeDocument/2006/relationships/slide" Target="/ppt/slides/slide16.xml" Id="R66e23cda3bce4ba2" /><Relationship Type="http://schemas.openxmlformats.org/officeDocument/2006/relationships/slide" Target="/ppt/slides/slide17.xml" Id="R85b816e14bf44e4d" /><Relationship Type="http://schemas.openxmlformats.org/officeDocument/2006/relationships/slide" Target="/ppt/slides/slide18.xml" Id="R2e0a89990803430d" /><Relationship Type="http://schemas.openxmlformats.org/officeDocument/2006/relationships/slide" Target="/ppt/slides/slide19.xml" Id="R69052b07b585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cf21f80dcb46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a8ed6043564f90" /><Relationship Type="http://schemas.openxmlformats.org/officeDocument/2006/relationships/notesMaster" Target="/ppt/notesMasters/notesMaster1.xml" Id="R4503dc0941b84d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e4e9f6b73d4b15" /><Relationship Type="http://schemas.openxmlformats.org/officeDocument/2006/relationships/notesMaster" Target="/ppt/notesMasters/notesMaster1.xml" Id="R551040cbc63c4f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8165e338114a8c" /><Relationship Type="http://schemas.openxmlformats.org/officeDocument/2006/relationships/notesMaster" Target="/ppt/notesMasters/notesMaster1.xml" Id="Rd2207eb1b25a45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ba2ad5ef03466f" /><Relationship Type="http://schemas.openxmlformats.org/officeDocument/2006/relationships/notesMaster" Target="/ppt/notesMasters/notesMaster1.xml" Id="R07ad43807b1c4a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7f615b07c5441d" /><Relationship Type="http://schemas.openxmlformats.org/officeDocument/2006/relationships/notesMaster" Target="/ppt/notesMasters/notesMaster1.xml" Id="R59e122b2938b4d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5b7d2d32ef4bbe" /><Relationship Type="http://schemas.openxmlformats.org/officeDocument/2006/relationships/notesMaster" Target="/ppt/notesMasters/notesMaster1.xml" Id="R62273f91c23f44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338296eaa14a8e" /><Relationship Type="http://schemas.openxmlformats.org/officeDocument/2006/relationships/notesMaster" Target="/ppt/notesMasters/notesMaster1.xml" Id="Re96aafa8cde14f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ad047d0f0e4591" /><Relationship Type="http://schemas.openxmlformats.org/officeDocument/2006/relationships/notesMaster" Target="/ppt/notesMasters/notesMaster1.xml" Id="Rbd4160926e6847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9d9465c506447d" /><Relationship Type="http://schemas.openxmlformats.org/officeDocument/2006/relationships/notesMaster" Target="/ppt/notesMasters/notesMaster1.xml" Id="Re6ea0038b62e49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2c56f027fc42bb" /><Relationship Type="http://schemas.openxmlformats.org/officeDocument/2006/relationships/notesMaster" Target="/ppt/notesMasters/notesMaster1.xml" Id="R87ce62e3a6534a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25985f19784b3e" /><Relationship Type="http://schemas.openxmlformats.org/officeDocument/2006/relationships/notesMaster" Target="/ppt/notesMasters/notesMaster1.xml" Id="Rf8d456b0960f45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f19ea2bd9f4076" /><Relationship Type="http://schemas.openxmlformats.org/officeDocument/2006/relationships/notesMaster" Target="/ppt/notesMasters/notesMaster1.xml" Id="R0a97d2b120bb42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3feac24eec4773" /><Relationship Type="http://schemas.openxmlformats.org/officeDocument/2006/relationships/notesMaster" Target="/ppt/notesMasters/notesMaster1.xml" Id="R556809fbc21344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5b3f56020640ee" /><Relationship Type="http://schemas.openxmlformats.org/officeDocument/2006/relationships/notesMaster" Target="/ppt/notesMasters/notesMaster1.xml" Id="R4f78a75aacce40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7769d1fc63416c" /><Relationship Type="http://schemas.openxmlformats.org/officeDocument/2006/relationships/notesMaster" Target="/ppt/notesMasters/notesMaster1.xml" Id="Rca8824c3e18747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867ebe0cf24b0b" /><Relationship Type="http://schemas.openxmlformats.org/officeDocument/2006/relationships/notesMaster" Target="/ppt/notesMasters/notesMaster1.xml" Id="Rfa3927ac119441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865a6bcb0f4264" /><Relationship Type="http://schemas.openxmlformats.org/officeDocument/2006/relationships/notesMaster" Target="/ppt/notesMasters/notesMaster1.xml" Id="R55d433863ed04a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83fdff96324851" /><Relationship Type="http://schemas.openxmlformats.org/officeDocument/2006/relationships/notesMaster" Target="/ppt/notesMasters/notesMaster1.xml" Id="R3ac5bdfdda494b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ed7227abbfb4d1a" /><Relationship Type="http://schemas.openxmlformats.org/officeDocument/2006/relationships/notesMaster" Target="/ppt/notesMasters/notesMaster1.xml" Id="R4aca0871295745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фиксирует позиционирование: ПравоКонтур продаётся не как генератор документов, а как система управления юридическим маршрутом.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Официальные источники: https://core.telegram.org/bots/api и https://developers.google.com/workspace/calendar/api/v3/reference/events/insert.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Официальный источник: https://yandex.com/dev/disk/rest/.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Официальный источник: https://publication.pravo.gov.ru/.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df60e60e94b9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08de49d8178440c" /><Relationship Type="http://schemas.openxmlformats.org/officeDocument/2006/relationships/slideLayout" Target="/ppt/slideLayouts/slideLayout2.xml" Id="R97077f234aba42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77f234aba42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82f6d93fd64b54" /><Relationship Type="http://schemas.openxmlformats.org/officeDocument/2006/relationships/notesSlide" Target="/ppt/notesSlides/notesSlide1.xml" Id="R0325df7868e745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0fe15679e24249" /><Relationship Type="http://schemas.openxmlformats.org/officeDocument/2006/relationships/notesSlide" Target="/ppt/notesSlides/notesSlide2.xml" Id="Ra5abfa0034bb4b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124943686649c9" /><Relationship Type="http://schemas.openxmlformats.org/officeDocument/2006/relationships/notesSlide" Target="/ppt/notesSlides/notesSlide3.xml" Id="R39e568ac062a4e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a75c4b76da4efc" /><Relationship Type="http://schemas.openxmlformats.org/officeDocument/2006/relationships/notesSlide" Target="/ppt/notesSlides/notesSlide4.xml" Id="R91b2ecbb75ac41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b9b63d6c57455c" /><Relationship Type="http://schemas.openxmlformats.org/officeDocument/2006/relationships/notesSlide" Target="/ppt/notesSlides/notesSlide5.xml" Id="Rcbc65688deb44d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bb7e25519b4766" /><Relationship Type="http://schemas.openxmlformats.org/officeDocument/2006/relationships/notesSlide" Target="/ppt/notesSlides/notesSlide6.xml" Id="R560541014d1640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da2bf0bfbd4521" /><Relationship Type="http://schemas.openxmlformats.org/officeDocument/2006/relationships/notesSlide" Target="/ppt/notesSlides/notesSlide7.xml" Id="R011c4e5e579542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1f0808c2d94a88" /><Relationship Type="http://schemas.openxmlformats.org/officeDocument/2006/relationships/notesSlide" Target="/ppt/notesSlides/notesSlide8.xml" Id="R4152d4d995eb41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2fd6b862184beb" /><Relationship Type="http://schemas.openxmlformats.org/officeDocument/2006/relationships/notesSlide" Target="/ppt/notesSlides/notesSlide9.xml" Id="R04dc5072b47a4f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a5e4f434074e8e" /><Relationship Type="http://schemas.openxmlformats.org/officeDocument/2006/relationships/notesSlide" Target="/ppt/notesSlides/notesSlide10.xml" Id="Rac055a659a204e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e77b7030074471" /><Relationship Type="http://schemas.openxmlformats.org/officeDocument/2006/relationships/notesSlide" Target="/ppt/notesSlides/notesSlide11.xml" Id="R90f821c299754b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f6e56f5371458b" /><Relationship Type="http://schemas.openxmlformats.org/officeDocument/2006/relationships/notesSlide" Target="/ppt/notesSlides/notesSlide12.xml" Id="R2b63cb69b63542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cfdc46425f4bdb" /><Relationship Type="http://schemas.openxmlformats.org/officeDocument/2006/relationships/notesSlide" Target="/ppt/notesSlides/notesSlide13.xml" Id="Rf7837432997a4b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9eee961c82413d" /><Relationship Type="http://schemas.openxmlformats.org/officeDocument/2006/relationships/notesSlide" Target="/ppt/notesSlides/notesSlide14.xml" Id="Rbef6e77cac864f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5d8378c56d45a2" /><Relationship Type="http://schemas.openxmlformats.org/officeDocument/2006/relationships/notesSlide" Target="/ppt/notesSlides/notesSlide15.xml" Id="R84b89546ad6a49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cd75da76e74897" /><Relationship Type="http://schemas.openxmlformats.org/officeDocument/2006/relationships/notesSlide" Target="/ppt/notesSlides/notesSlide16.xml" Id="Rd77d98b130fa4f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5224938bc44f98" /><Relationship Type="http://schemas.openxmlformats.org/officeDocument/2006/relationships/notesSlide" Target="/ppt/notesSlides/notesSlide17.xml" Id="R3ad5daec5b6741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e0154c1fbf47b3" /><Relationship Type="http://schemas.openxmlformats.org/officeDocument/2006/relationships/notesSlide" Target="/ppt/notesSlides/notesSlide18.xml" Id="Rcafd7920b08046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6599e1abc0447f" /><Relationship Type="http://schemas.openxmlformats.org/officeDocument/2006/relationships/notesSlide" Target="/ppt/notesSlides/notesSlide19.xml" Id="R5ba6bd56dd3045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F9F2A9-72A9-4E14-BA51-287A5499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ACF82-BBBF-4002-91E5-427E6D17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1533811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7F119-8B77-4705-BE38-5EB04386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001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6B6D4"/>
                </a:solidFill>
              </a:defRPr>
            </a:pPr>
            <a:r>
              <a:rPr sz="1200" b="1" i="0">
                <a:solidFill>
                  <a:srgbClr val="06B6D4"/>
                </a:solidFill>
              </a:rPr>
              <a:t>premium legal-tech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D8F6E-70C8-4286-90BB-EB233152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800100"/>
            <a:ext cx="4038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6C6D4"/>
                </a:solidFill>
              </a:defRPr>
            </a:pPr>
            <a:r>
              <a:rPr sz="1350" b="0" i="0">
                <a:solidFill>
                  <a:srgbClr val="B6C6D4"/>
                </a:solidFill>
              </a:rPr>
              <a:t>Платформа автоматизации юридической деятельности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0671518-4251-4C99-8280-48D78804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65354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100" b="1" i="0">
                <a:solidFill>
                  <a:srgbClr val="FFFFFF"/>
                </a:solidFill>
              </a:defRPr>
            </a:pPr>
            <a:r>
              <a:rPr sz="8100" b="1" i="0">
                <a:solidFill>
                  <a:srgbClr val="FFFFFF"/>
                </a:solidFill>
              </a:rPr>
              <a:t>ПравоКонтур</a:t>
            </a:r>
          </a:p>
        </p:txBody>
      </p:sp>
      <p:sp>
        <p:nvSpPr>
          <p:cNvPr id="6" name="cover-claim">
            <a:extLst xmlns:a="http://schemas.openxmlformats.org/drawingml/2006/main">
              <a:ext uri="{FF2B5EF4-FFF2-40B4-BE49-F238E27FC236}">
                <a16:creationId xmlns:a16="http://schemas.microsoft.com/office/drawing/2014/main" id="{6826E82D-A5AC-4EDF-97BB-F4AAD483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1239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A7F3F0"/>
                </a:solidFill>
              </a:defRPr>
            </a:pPr>
            <a:r>
              <a:rPr sz="3000" b="1" i="0">
                <a:solidFill>
                  <a:srgbClr val="A7F3F0"/>
                </a:solidFill>
              </a:rPr>
              <a:t>Автоматизируем не отдельный документ, а весь маршрут юридической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78E6F-5A7B-4119-9EEC-6093A679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53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9D8E8E1C-48DA-45FF-96B0-815A3BE3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009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3C540-0571-4556-861D-A58BD582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961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4532D"/>
                </a:solidFill>
              </a:defRPr>
            </a:pPr>
            <a:r>
              <a:rPr sz="1125" b="1" i="0">
                <a:solidFill>
                  <a:srgbClr val="14532D"/>
                </a:solidFill>
              </a:rPr>
              <a:t>запрос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200F5-C537-4ABE-AF43-0220D84C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2771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B9B2ECF9-71FE-46D7-9F8A-EAB93CCC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2009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E3BF7-5EC2-4A76-B43F-B64819E0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72961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1AC57-F160-461A-9487-3EBDF938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2771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CA535F18-2EF2-4C21-AC7C-66C9C927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2009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78A22-ED55-4149-9FDC-5909F3E6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961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проверка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14817-AFE5-4D77-801E-7567088E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72771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DA179328-2B8A-4095-A49A-1ECA98D6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2009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8842C-90DF-489A-A3CF-2BCED7B4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2961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документ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61053-002C-4E9C-B92D-B8C11BC7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2771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0" name="step-5">
            <a:extLst xmlns:a="http://schemas.openxmlformats.org/drawingml/2006/main">
              <a:ext uri="{FF2B5EF4-FFF2-40B4-BE49-F238E27FC236}">
                <a16:creationId xmlns:a16="http://schemas.microsoft.com/office/drawing/2014/main" id="{12E30811-703A-4842-AA0A-433E1C34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2009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03F1B-6005-4B61-BFFA-26AEEAF0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2961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срок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1D42D-6B93-415A-A515-8CA145AF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2771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3" name="step-6">
            <a:extLst xmlns:a="http://schemas.openxmlformats.org/drawingml/2006/main">
              <a:ext uri="{FF2B5EF4-FFF2-40B4-BE49-F238E27FC236}">
                <a16:creationId xmlns:a16="http://schemas.microsoft.com/office/drawing/2014/main" id="{D699C2DD-8EEC-4B89-AD5E-3EECDD79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2009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7068D-88DD-4C91-9A3A-F521FFC1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2961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результат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6DB4DE-BFDF-4E84-8FF7-D3D6A1F4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2771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6" name="step-7">
            <a:extLst xmlns:a="http://schemas.openxmlformats.org/drawingml/2006/main">
              <a:ext uri="{FF2B5EF4-FFF2-40B4-BE49-F238E27FC236}">
                <a16:creationId xmlns:a16="http://schemas.microsoft.com/office/drawing/2014/main" id="{0F7E909A-6881-4E81-8B3B-68AB0BAA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72009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C7F371-9DFE-48D5-8B4E-0A72710A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2961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отчёт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E89EBF-40D9-4999-85BA-7A00D43E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296400"/>
            <a:ext cx="487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DCEAF2"/>
                </a:solidFill>
              </a:defRPr>
            </a:pPr>
            <a:r>
              <a:rPr sz="1650" b="0" i="0">
                <a:solidFill>
                  <a:srgbClr val="DCEAF2"/>
                </a:solidFill>
              </a:rPr>
              <a:t>Юрист управляет процессом. Система снимает рутину.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E6A311-5AEA-42EE-9564-F0416E86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3450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F93A7"/>
                </a:solidFill>
              </a:defRPr>
            </a:pPr>
            <a:r>
              <a:rPr sz="1350" b="0" i="0">
                <a:solidFill>
                  <a:srgbClr val="7F93A7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085774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FBCAFB-E31D-4DCC-A862-C171F648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2">
            <a:extLst xmlns:a="http://schemas.openxmlformats.org/drawingml/2006/main">
              <a:ext uri="{FF2B5EF4-FFF2-40B4-BE49-F238E27FC236}">
                <a16:creationId xmlns:a16="http://schemas.microsoft.com/office/drawing/2014/main" id="{0CF885EE-500D-4B41-91C8-FB9A7FA1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1EB1F-5343-4950-A2A6-15CD4B1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АКТУАЛЬНОСТЬ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5AC87-4AAD-4E8D-9575-4EDC5331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381851A-4127-4640-BB3E-546ECFF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Проблема не в отсутствии юридических знаний, а в отсутствии управляемого процесса</a:t>
            </a:r>
          </a:p>
        </p:txBody>
      </p:sp>
      <p:sp>
        <p:nvSpPr>
          <p:cNvPr id="6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A2ACFB43-837C-4948-9711-65827169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Юридическая работа часто распадается на каналы, файлы, ручные сроки и повторяющиеся действия.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1EDEB-470C-47A1-9B98-D3ACBC0A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45309"/>
                </a:solidFill>
              </a:defRPr>
            </a:pPr>
            <a:r>
              <a:rPr sz="1875" b="1" i="0">
                <a:solidFill>
                  <a:srgbClr val="B45309"/>
                </a:solidFill>
              </a:rPr>
              <a:t>Как есть: фрагменты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65FBFBA7-1A50-4FD0-B191-6F7B0067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22D76-9250-4995-8C20-ECAF9AF0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7F1D1D"/>
                </a:solidFill>
              </a:defRPr>
            </a:pPr>
            <a:r>
              <a:rPr sz="1238" b="1" i="0">
                <a:solidFill>
                  <a:srgbClr val="7F1D1D"/>
                </a:solidFill>
              </a:rPr>
              <a:t>почта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7A8CA-2793-478A-A98B-463BA827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384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3BC759A1-C470-4EC7-8347-AE423FCC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622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E7DFE-E290-4E2E-88F4-C1AD6FEE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7F1D1D"/>
                </a:solidFill>
              </a:defRPr>
            </a:pPr>
            <a:r>
              <a:rPr sz="1238" b="1" i="0">
                <a:solidFill>
                  <a:srgbClr val="7F1D1D"/>
                </a:solidFill>
              </a:rPr>
              <a:t>Telegram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E62D0162-2439-47A6-977E-D611CA7D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34EB8-8F13-46EF-913F-9457C05A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F2937"/>
                </a:solidFill>
              </a:defRPr>
            </a:pPr>
            <a:r>
              <a:rPr sz="1238" b="1" i="0">
                <a:solidFill>
                  <a:srgbClr val="1F2937"/>
                </a:solidFill>
              </a:rPr>
              <a:t>папки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81542-E68F-4CBF-9106-E3AE78CF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99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step-4">
            <a:extLst xmlns:a="http://schemas.openxmlformats.org/drawingml/2006/main">
              <a:ext uri="{FF2B5EF4-FFF2-40B4-BE49-F238E27FC236}">
                <a16:creationId xmlns:a16="http://schemas.microsoft.com/office/drawing/2014/main" id="{1378FB4A-3D45-4087-8B38-C5DCF5C4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337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9F564-F0CE-4BF9-A8D8-BB307B84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F2937"/>
                </a:solidFill>
              </a:defRPr>
            </a:pPr>
            <a:r>
              <a:rPr sz="1238" b="1" i="0">
                <a:solidFill>
                  <a:srgbClr val="1F2937"/>
                </a:solidFill>
              </a:rPr>
              <a:t>Excel</a:t>
            </a:r>
          </a:p>
        </p:txBody>
      </p:sp>
      <p:sp>
        <p:nvSpPr>
          <p:cNvPr id="18" name="step-5">
            <a:extLst xmlns:a="http://schemas.openxmlformats.org/drawingml/2006/main">
              <a:ext uri="{FF2B5EF4-FFF2-40B4-BE49-F238E27FC236}">
                <a16:creationId xmlns:a16="http://schemas.microsoft.com/office/drawing/2014/main" id="{9C6655B0-6BC5-4882-A7D0-D580B86C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7CFDB-A2AC-4340-B29E-5DA01D7A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92400E"/>
                </a:solidFill>
              </a:defRPr>
            </a:pPr>
            <a:r>
              <a:rPr sz="1238" b="1" i="0">
                <a:solidFill>
                  <a:srgbClr val="92400E"/>
                </a:solidFill>
              </a:rPr>
              <a:t>календарь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C7A09-EA40-4F36-9E79-5F3170D0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814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1" name="step-6">
            <a:extLst xmlns:a="http://schemas.openxmlformats.org/drawingml/2006/main">
              <a:ext uri="{FF2B5EF4-FFF2-40B4-BE49-F238E27FC236}">
                <a16:creationId xmlns:a16="http://schemas.microsoft.com/office/drawing/2014/main" id="{DE9DFE37-1803-47F8-A3FC-F189B1E5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052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994B6-2404-4894-8E40-52FC09E0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7F1D1D"/>
                </a:solidFill>
              </a:defRPr>
            </a:pPr>
            <a:r>
              <a:rPr sz="1238" b="1" i="0">
                <a:solidFill>
                  <a:srgbClr val="7F1D1D"/>
                </a:solidFill>
              </a:rPr>
              <a:t>устные поручения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C37D0-37A0-4BBA-9ED2-0EE2E17A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734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F2937"/>
                </a:solidFill>
              </a:defRPr>
            </a:pPr>
            <a:r>
              <a:rPr sz="1575" b="0" i="0">
                <a:solidFill>
                  <a:srgbClr val="1F2937"/>
                </a:solidFill>
              </a:rPr>
              <a:t>Юристы тратят время на сбор данных, поиск документов, проверку комплектности, напоминания и перенос информации.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8786E-838E-4216-957D-44AAC488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10200"/>
            <a:ext cx="876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 i="0">
                <a:solidFill>
                  <a:srgbClr val="0F766E"/>
                </a:solidFill>
              </a:defRPr>
            </a:pPr>
            <a:r>
              <a:rPr sz="5400" b="1" i="0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DD3453-5CD8-41FB-AB6B-535AD623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050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766E"/>
                </a:solidFill>
              </a:defRPr>
            </a:pPr>
            <a:r>
              <a:rPr sz="1875" b="1" i="0">
                <a:solidFill>
                  <a:srgbClr val="0F766E"/>
                </a:solidFill>
              </a:rPr>
              <a:t>Как должно быть: маршрут</a:t>
            </a:r>
          </a:p>
        </p:txBody>
      </p:sp>
      <p:sp>
        <p:nvSpPr>
          <p:cNvPr id="26" name="step-1">
            <a:extLst xmlns:a="http://schemas.openxmlformats.org/drawingml/2006/main">
              <a:ext uri="{FF2B5EF4-FFF2-40B4-BE49-F238E27FC236}">
                <a16:creationId xmlns:a16="http://schemas.microsoft.com/office/drawing/2014/main" id="{89A6C112-4CA0-4B7C-A63B-AAD3C49C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622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CECC8-9A55-4943-AC08-708071A8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765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4532D"/>
                </a:solidFill>
              </a:defRPr>
            </a:pPr>
            <a:r>
              <a:rPr sz="1238" b="1" i="0">
                <a:solidFill>
                  <a:srgbClr val="14532D"/>
                </a:solidFill>
              </a:rPr>
              <a:t>триггер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F71B0-D947-42CF-8F48-E0E5D439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4384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9" name="step-2">
            <a:extLst xmlns:a="http://schemas.openxmlformats.org/drawingml/2006/main">
              <a:ext uri="{FF2B5EF4-FFF2-40B4-BE49-F238E27FC236}">
                <a16:creationId xmlns:a16="http://schemas.microsoft.com/office/drawing/2014/main" id="{B858BBF8-B9BA-4A5B-B76B-3039B67D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3622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17B908-05F8-4233-B397-CDB3F7E0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4765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55E75"/>
                </a:solidFill>
              </a:defRPr>
            </a:pPr>
            <a:r>
              <a:rPr sz="1238" b="1" i="0">
                <a:solidFill>
                  <a:srgbClr val="155E75"/>
                </a:solidFill>
              </a:rPr>
              <a:t>анкета</a:t>
            </a:r>
          </a:p>
        </p:txBody>
      </p:sp>
      <p:sp>
        <p:nvSpPr>
          <p:cNvPr id="31" name="step-3">
            <a:extLst xmlns:a="http://schemas.openxmlformats.org/drawingml/2006/main">
              <a:ext uri="{FF2B5EF4-FFF2-40B4-BE49-F238E27FC236}">
                <a16:creationId xmlns:a16="http://schemas.microsoft.com/office/drawing/2014/main" id="{4A529215-BFA5-47E8-A582-61CCDF8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337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C47C49-2F6E-4FCE-B778-7DFBDDFA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34E4A"/>
                </a:solidFill>
              </a:defRPr>
            </a:pPr>
            <a:r>
              <a:rPr sz="1238" b="1" i="0">
                <a:solidFill>
                  <a:srgbClr val="134E4A"/>
                </a:solidFill>
              </a:rPr>
              <a:t>проверка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56D6D7-40A7-4FDC-86C9-A70CD6ED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0099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4" name="step-4">
            <a:extLst xmlns:a="http://schemas.openxmlformats.org/drawingml/2006/main">
              <a:ext uri="{FF2B5EF4-FFF2-40B4-BE49-F238E27FC236}">
                <a16:creationId xmlns:a16="http://schemas.microsoft.com/office/drawing/2014/main" id="{410F2B3D-41DE-4D92-8E7C-437F97E6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9337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8281A1-A177-405A-923F-82FB78FD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0480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F2937"/>
                </a:solidFill>
              </a:defRPr>
            </a:pPr>
            <a:r>
              <a:rPr sz="1238" b="1" i="0">
                <a:solidFill>
                  <a:srgbClr val="1F2937"/>
                </a:solidFill>
              </a:rPr>
              <a:t>задача</a:t>
            </a:r>
          </a:p>
        </p:txBody>
      </p:sp>
      <p:sp>
        <p:nvSpPr>
          <p:cNvPr id="36" name="step-5">
            <a:extLst xmlns:a="http://schemas.openxmlformats.org/drawingml/2006/main">
              <a:ext uri="{FF2B5EF4-FFF2-40B4-BE49-F238E27FC236}">
                <a16:creationId xmlns:a16="http://schemas.microsoft.com/office/drawing/2014/main" id="{53CB9C00-E516-454B-B13F-BBDE1971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052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A0EE3C-317D-4DB3-B0BA-34603ADF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92400E"/>
                </a:solidFill>
              </a:defRPr>
            </a:pPr>
            <a:r>
              <a:rPr sz="1238" b="1" i="0">
                <a:solidFill>
                  <a:srgbClr val="92400E"/>
                </a:solidFill>
              </a:rPr>
              <a:t>срок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4C97C3-79A1-4D62-A3AA-45042B24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5814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9" name="step-6">
            <a:extLst xmlns:a="http://schemas.openxmlformats.org/drawingml/2006/main">
              <a:ext uri="{FF2B5EF4-FFF2-40B4-BE49-F238E27FC236}">
                <a16:creationId xmlns:a16="http://schemas.microsoft.com/office/drawing/2014/main" id="{AEA98CA3-2D89-4DE7-84AB-76D35F53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052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8AD468-943B-4E9E-9E76-6ACCFB30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6195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F2937"/>
                </a:solidFill>
              </a:defRPr>
            </a:pPr>
            <a:r>
              <a:rPr sz="1238" b="1" i="0">
                <a:solidFill>
                  <a:srgbClr val="1F2937"/>
                </a:solidFill>
              </a:rPr>
              <a:t>архив</a:t>
            </a:r>
          </a:p>
        </p:txBody>
      </p:sp>
      <p:sp>
        <p:nvSpPr>
          <p:cNvPr id="41" name="step-7">
            <a:extLst xmlns:a="http://schemas.openxmlformats.org/drawingml/2006/main">
              <a:ext uri="{FF2B5EF4-FFF2-40B4-BE49-F238E27FC236}">
                <a16:creationId xmlns:a16="http://schemas.microsoft.com/office/drawing/2014/main" id="{D1BB7BB1-2433-4B01-BA3E-BD05C567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767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5710B9-EAEC-4778-8C12-31C75C6A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910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34E4A"/>
                </a:solidFill>
              </a:defRPr>
            </a:pPr>
            <a:r>
              <a:rPr sz="1238" b="1" i="0">
                <a:solidFill>
                  <a:srgbClr val="134E4A"/>
                </a:solidFill>
              </a:rPr>
              <a:t>отчёт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7C120A-7222-4C47-84D7-9DC15796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67250"/>
            <a:ext cx="7734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F2937"/>
                </a:solidFill>
              </a:defRPr>
            </a:pPr>
            <a:r>
              <a:rPr sz="1575" b="0" i="0">
                <a:solidFill>
                  <a:srgbClr val="1F2937"/>
                </a:solidFill>
              </a:rPr>
              <a:t>ПравоКонтур превращает разрозненные обращения и документы в контролируемые сценарии с ответственными, сроками и следами действий.</a:t>
            </a:r>
          </a:p>
        </p:txBody>
      </p:sp>
    </p:spTree>
    <p:extLst>
      <p:ext uri="{BB962C8B-B14F-4D97-AF65-F5344CB8AC3E}">
        <p14:creationId xmlns:p14="http://schemas.microsoft.com/office/powerpoint/2010/main" val="19235880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2F634B-4FE7-41DF-997E-6230449D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3">
            <a:extLst xmlns:a="http://schemas.openxmlformats.org/drawingml/2006/main">
              <a:ext uri="{FF2B5EF4-FFF2-40B4-BE49-F238E27FC236}">
                <a16:creationId xmlns:a16="http://schemas.microsoft.com/office/drawing/2014/main" id="{E04658C4-984B-4601-93B3-1C78E904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1BB13-0BC6-4C44-AB3D-4AD29EB7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EEB4E-A6F3-4AA0-B28D-8CA5C10E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5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266A561-38B3-449A-AA1A-153E2FA8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Чат-бот для первичной обработки обращения клиента</a:t>
            </a:r>
          </a:p>
        </p:txBody>
      </p:sp>
      <p:sp>
        <p:nvSpPr>
          <p:cNvPr id="6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95368040-D8C8-42B8-B997-B8E02CD9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Молодому клиенту проще описать проблему в телефоне, чем сразу звонить и долго объяснять ситуацию устно.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D3068-9550-420B-AF78-2E3A7926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1D6B53B4-9EED-49D1-A84D-C8369D34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E7900-65D4-4B26-8108-9EFF87BB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4532D"/>
                </a:solidFill>
              </a:defRPr>
            </a:pPr>
            <a:r>
              <a:rPr sz="1125" b="1" i="0">
                <a:solidFill>
                  <a:srgbClr val="14532D"/>
                </a:solidFill>
              </a:rPr>
              <a:t>сайт / реклама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D7FA1-CD1F-4F18-98E6-4F256416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92707C34-3A22-491B-8BA7-DFD9EA67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AFBC2-EE84-419F-9E3D-7C73EF19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чат-бот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C4020-BD85-4433-91A4-0294BF22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DB13D82C-70A8-48CA-8702-23E87243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B0A25-0884-4077-B5F6-36FA5A27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контакты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D2ACB-8F27-42F3-AAB3-9AB34BB2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95C75749-6035-45A3-8923-E5278FCC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CC6B9-6B49-4869-B9F0-CE4C5A5A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свободное описание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DDBFD-A996-4EEB-B379-5D57751D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0" name="step-5">
            <a:extLst xmlns:a="http://schemas.openxmlformats.org/drawingml/2006/main">
              <a:ext uri="{FF2B5EF4-FFF2-40B4-BE49-F238E27FC236}">
                <a16:creationId xmlns:a16="http://schemas.microsoft.com/office/drawing/2014/main" id="{1C0E8DF7-8CE2-4DC6-AC9E-02AC87F0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E7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90E13-2D20-4E37-9050-A26CAA68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1D95"/>
                </a:solidFill>
              </a:defRPr>
            </a:pPr>
            <a:r>
              <a:rPr sz="1125" b="1" i="0">
                <a:solidFill>
                  <a:srgbClr val="4C1D95"/>
                </a:solidFill>
              </a:rPr>
              <a:t>AI-категория</a:t>
            </a:r>
          </a:p>
        </p:txBody>
      </p:sp>
      <p:sp>
        <p:nvSpPr>
          <p:cNvPr id="22" name="step-6">
            <a:extLst xmlns:a="http://schemas.openxmlformats.org/drawingml/2006/main">
              <a:ext uri="{FF2B5EF4-FFF2-40B4-BE49-F238E27FC236}">
                <a16:creationId xmlns:a16="http://schemas.microsoft.com/office/drawing/2014/main" id="{47D6B1BE-97E4-40F9-B36D-D58A144A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A3B48-BD1F-47B4-8A1D-0201977F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анкета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DF63B-996B-4E01-BEA6-23FB2D5C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step-7">
            <a:extLst xmlns:a="http://schemas.openxmlformats.org/drawingml/2006/main">
              <a:ext uri="{FF2B5EF4-FFF2-40B4-BE49-F238E27FC236}">
                <a16:creationId xmlns:a16="http://schemas.microsoft.com/office/drawing/2014/main" id="{E9E6D5B2-4738-48B2-97AE-4048704C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48A84D-06EB-4BD3-807E-B4F76A1A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список документов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11B392-634D-440D-9415-08404076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step-8">
            <a:extLst xmlns:a="http://schemas.openxmlformats.org/drawingml/2006/main">
              <a:ext uri="{FF2B5EF4-FFF2-40B4-BE49-F238E27FC236}">
                <a16:creationId xmlns:a16="http://schemas.microsoft.com/office/drawing/2014/main" id="{24C43DAA-4745-4FDC-97D2-55C3F0F7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A7E97-21D8-41FB-837B-C1AD8FE6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выбор времени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D96BA0-E539-4E5F-BF01-92E3CE70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1" name="step-9">
            <a:extLst xmlns:a="http://schemas.openxmlformats.org/drawingml/2006/main">
              <a:ext uri="{FF2B5EF4-FFF2-40B4-BE49-F238E27FC236}">
                <a16:creationId xmlns:a16="http://schemas.microsoft.com/office/drawing/2014/main" id="{140E3E08-271C-4D59-BD2D-44AE428C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78550C-E638-4AD8-87C8-A0276114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Google Calendar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1DAEE7-9007-42CF-B10D-5A6CCD0B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4" name="step-10">
            <a:extLst xmlns:a="http://schemas.openxmlformats.org/drawingml/2006/main">
              <a:ext uri="{FF2B5EF4-FFF2-40B4-BE49-F238E27FC236}">
                <a16:creationId xmlns:a16="http://schemas.microsoft.com/office/drawing/2014/main" id="{ACC53D0B-5BF9-4BF9-8943-E82CD62B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D2E447-3C55-49D2-AE97-EF4C41F7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карточка обращения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8027CC-D644-425C-9636-0895AA56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46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D5E8F5-3AE5-4CFB-A899-FD3C75A6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1B9F7C-6544-47E7-8770-F3B3874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Клиент пишет: «долги, приставы, платить не могу». Система относит обращение к банкротству или долговому спору, уточняет сумму долгов, кредиторов, доход, имущество и предлагает время консультации.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EC9791-3F31-4610-B6D4-51EC4BE4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0420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7C8792"/>
                </a:solidFill>
              </a:defRPr>
            </a:pPr>
            <a:r>
              <a:rPr sz="825" b="0" i="0">
                <a:solidFill>
                  <a:srgbClr val="7C8792"/>
                </a:solidFill>
              </a:rPr>
              <a:t>Техническая опора: Telegram Bot API — HTTP-интерфейс для ботов; Google Calendar API Events.insert создаёт события календаря.</a:t>
            </a:r>
          </a:p>
        </p:txBody>
      </p:sp>
    </p:spTree>
    <p:extLst>
      <p:ext uri="{BB962C8B-B14F-4D97-AF65-F5344CB8AC3E}">
        <p14:creationId xmlns:p14="http://schemas.microsoft.com/office/powerpoint/2010/main" val="4516845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027FDA-FE42-4107-BECC-74C0D28C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4">
            <a:extLst xmlns:a="http://schemas.openxmlformats.org/drawingml/2006/main">
              <a:ext uri="{FF2B5EF4-FFF2-40B4-BE49-F238E27FC236}">
                <a16:creationId xmlns:a16="http://schemas.microsoft.com/office/drawing/2014/main" id="{B050274B-0A32-468B-9F15-6E054D6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DB701-67B8-4A8B-BA51-9C315BA9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7A926-D001-4F76-9521-B369BF53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254E592-F9EA-4629-AADF-BEE8B7A3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Предконсультационная подготовка юриста</a:t>
            </a:r>
          </a:p>
        </p:txBody>
      </p:sp>
      <p:sp>
        <p:nvSpPr>
          <p:cNvPr id="6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76193350-3907-402B-9642-620F071A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После записи система готовит юриста к встрече: анкета, документы, нормы, практика, риски и вопросы клиенту.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F3E37-A3C5-4AC1-BFB8-80E143BD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7E78DABE-44CB-4C34-96C8-F26CA54B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FB7A7-B252-4521-94AF-56CE1117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4532D"/>
                </a:solidFill>
              </a:defRPr>
            </a:pPr>
            <a:r>
              <a:rPr sz="1125" b="1" i="0">
                <a:solidFill>
                  <a:srgbClr val="14532D"/>
                </a:solidFill>
              </a:rPr>
              <a:t>запись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9A728-FF60-4BA7-B719-145AC71D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56BBF1FB-C977-463D-8C2A-3F0B9437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9F1AF-D6A5-446D-BFD6-AD414EBE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проверка анкеты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F07D5-A749-47A9-B4E6-A317FEDA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BCC0B162-3320-431E-8C55-92BBCD4D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039E5-52C2-4466-98FF-6FC29FCE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документы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BF45D-2657-47DB-97D9-8A531849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A890A98A-A47C-4F73-9018-20E9843E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E7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E1034-92A0-4B39-93AD-17B49C47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1D95"/>
                </a:solidFill>
              </a:defRPr>
            </a:pPr>
            <a:r>
              <a:rPr sz="1125" b="1" i="0">
                <a:solidFill>
                  <a:srgbClr val="4C1D95"/>
                </a:solidFill>
              </a:rPr>
              <a:t>AI-анализ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C81FCB22-1F79-4962-A672-624C9CA0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17AE6-1050-4DB3-B15E-913BDE92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категория дела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E4E04-2AA9-47E7-85D0-0DD76388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337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step-6">
            <a:extLst xmlns:a="http://schemas.openxmlformats.org/drawingml/2006/main">
              <a:ext uri="{FF2B5EF4-FFF2-40B4-BE49-F238E27FC236}">
                <a16:creationId xmlns:a16="http://schemas.microsoft.com/office/drawing/2014/main" id="{169B7C01-0307-4EF3-8571-352A0311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F270C-4B43-4054-97F5-C5D02E89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НПА и статьи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EADC5-504F-4527-8999-D78AFD9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337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step-7">
            <a:extLst xmlns:a="http://schemas.openxmlformats.org/drawingml/2006/main">
              <a:ext uri="{FF2B5EF4-FFF2-40B4-BE49-F238E27FC236}">
                <a16:creationId xmlns:a16="http://schemas.microsoft.com/office/drawing/2014/main" id="{946A82D2-D259-435F-A13E-97F47C28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576BC1-FB70-4422-B170-0003240E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судебная практика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0D7F6-06FB-4962-9AB9-66371EFB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337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step-8">
            <a:extLst xmlns:a="http://schemas.openxmlformats.org/drawingml/2006/main">
              <a:ext uri="{FF2B5EF4-FFF2-40B4-BE49-F238E27FC236}">
                <a16:creationId xmlns:a16="http://schemas.microsoft.com/office/drawing/2014/main" id="{AB68E412-4640-4863-B700-4CFCADF9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72B66C-165C-4F6F-89A9-E4AAA21C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карта рисков</a:t>
            </a:r>
          </a:p>
        </p:txBody>
      </p:sp>
      <p:sp>
        <p:nvSpPr>
          <p:cNvPr id="30" name="step-9">
            <a:extLst xmlns:a="http://schemas.openxmlformats.org/drawingml/2006/main">
              <a:ext uri="{FF2B5EF4-FFF2-40B4-BE49-F238E27FC236}">
                <a16:creationId xmlns:a16="http://schemas.microsoft.com/office/drawing/2014/main" id="{EB8014D9-0FE2-43B8-99C9-9D019DDC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24BC2-928B-47CC-9A5D-FE06E8F4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вопросы клиенту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1475F4-1A6F-4DC0-8719-66C5E569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242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3" name="step-10">
            <a:extLst xmlns:a="http://schemas.openxmlformats.org/drawingml/2006/main">
              <a:ext uri="{FF2B5EF4-FFF2-40B4-BE49-F238E27FC236}">
                <a16:creationId xmlns:a16="http://schemas.microsoft.com/office/drawing/2014/main" id="{287C77AA-2859-4183-A1EA-58E4ECED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480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D114F0-3A7E-4DEA-B4B4-00108C70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433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папка дела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3139F4-A4B3-45EB-8B0B-60531E50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6" name="step-11">
            <a:extLst xmlns:a="http://schemas.openxmlformats.org/drawingml/2006/main">
              <a:ext uri="{FF2B5EF4-FFF2-40B4-BE49-F238E27FC236}">
                <a16:creationId xmlns:a16="http://schemas.microsoft.com/office/drawing/2014/main" id="{C2763594-0524-4A6D-A68D-7807369F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F67785-1E07-431A-B235-5B93F571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напоминание юристу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305C72-C51D-4C86-A698-75BC32F9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4F3AA4-1609-46B5-86E7-291755AA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Юрист утверждает / редактирует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E5F643-4F6B-4C3B-87AB-3A165D1C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Для банкротства система подсказывает нормы закона о несостоятельности; для ЖКХ — правила коммунальных услуг; для трудового спора — релевантные нормы ТК. Юрист может менять категории и список норм.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A4ADC0-57DD-4A5A-A602-82ECFBE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0"/>
            <a:ext cx="104203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726520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296753-7151-4C04-BF1D-0100746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5">
            <a:extLst xmlns:a="http://schemas.openxmlformats.org/drawingml/2006/main">
              <a:ext uri="{FF2B5EF4-FFF2-40B4-BE49-F238E27FC236}">
                <a16:creationId xmlns:a16="http://schemas.microsoft.com/office/drawing/2014/main" id="{34512ECD-CA20-4191-9082-9DA12C88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97AC7-E0A5-46F6-A8D7-413818A1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09BAB-15A0-4B79-822A-E4450E92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63BD2AC-89F3-42B8-9696-10F9EA11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Банкротное досье физического лица</a:t>
            </a:r>
          </a:p>
        </p:txBody>
      </p:sp>
      <p:sp>
        <p:nvSpPr>
          <p:cNvPr id="6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961334AF-A882-4EFD-B063-6041B6F9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Система собирает долги, доходы, расходы и имущество, затем готовит черновое обоснование невозможности платить.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94563-443B-44DE-8449-21C3CDB9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7ADF8-1656-4ABE-A640-C347788F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34155"/>
                </a:solidFill>
              </a:defRPr>
            </a:pPr>
            <a:r>
              <a:rPr sz="1275" b="1" i="0">
                <a:solidFill>
                  <a:srgbClr val="334155"/>
                </a:solidFill>
              </a:rPr>
              <a:t>Документы о долгах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5B495F73-91F9-494C-9C4B-B693154E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5B207-28F8-4844-8736-31694D7F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кредитная история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2A561-BF62-4E81-BB7D-4E6BA3A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00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79E26D7F-2F99-4E80-804D-2A3BC963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A307C-AD86-4222-BA0C-A04D92FF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432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договоры / выписки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1DCF8AD0-3A70-46B0-89FF-F415E998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C44CE-CB18-48FC-9FBE-B3496D63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судебные акты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FC5E1-EBC3-4899-B4C9-CCCDE537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528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CCE9A32C-98D2-4470-9845-4F9A492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766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55723-F94E-4B26-89D5-31534944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718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кредиторы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931A1-57A6-4A07-8F10-64490714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34155"/>
                </a:solidFill>
              </a:defRPr>
            </a:pPr>
            <a:r>
              <a:rPr sz="1275" b="1" i="0">
                <a:solidFill>
                  <a:srgbClr val="334155"/>
                </a:solidFill>
              </a:rPr>
              <a:t>Доходы и расходы</a:t>
            </a:r>
          </a:p>
        </p:txBody>
      </p:sp>
      <p:sp>
        <p:nvSpPr>
          <p:cNvPr id="20" name="step-1">
            <a:extLst xmlns:a="http://schemas.openxmlformats.org/drawingml/2006/main">
              <a:ext uri="{FF2B5EF4-FFF2-40B4-BE49-F238E27FC236}">
                <a16:creationId xmlns:a16="http://schemas.microsoft.com/office/drawing/2014/main" id="{6F25DA2E-5FB2-4C74-AAAE-F02F5351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632" y="2647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920D6-93F8-424F-96E0-3D478E8D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доход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F2B7C-373F-4A5B-8A60-A6B80235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41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3" name="step-2">
            <a:extLst xmlns:a="http://schemas.openxmlformats.org/drawingml/2006/main">
              <a:ext uri="{FF2B5EF4-FFF2-40B4-BE49-F238E27FC236}">
                <a16:creationId xmlns:a16="http://schemas.microsoft.com/office/drawing/2014/main" id="{5BAB522D-7E8D-47C4-AE97-090268D1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532" y="2647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81F01B-4A31-4FFA-BC91-5CCCE3CC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расходы</a:t>
            </a:r>
          </a:p>
        </p:txBody>
      </p:sp>
      <p:sp>
        <p:nvSpPr>
          <p:cNvPr id="25" name="step-3">
            <a:extLst xmlns:a="http://schemas.openxmlformats.org/drawingml/2006/main">
              <a:ext uri="{FF2B5EF4-FFF2-40B4-BE49-F238E27FC236}">
                <a16:creationId xmlns:a16="http://schemas.microsoft.com/office/drawing/2014/main" id="{B17DCA2D-D401-4CFB-B612-BF0FBD92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632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A6B08-43B0-404B-8A56-8CABDBD3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иждивенцы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1EF064-DBDB-45CD-A9FE-C8B64943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step-4">
            <a:extLst xmlns:a="http://schemas.openxmlformats.org/drawingml/2006/main">
              <a:ext uri="{FF2B5EF4-FFF2-40B4-BE49-F238E27FC236}">
                <a16:creationId xmlns:a16="http://schemas.microsoft.com/office/drawing/2014/main" id="{A153E3A0-B7A6-4AD8-B6FF-9421F5D9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532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7E2AA-5840-4F1D-9308-3741FEBC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имущество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7363D7-416B-4AB8-9B04-AE05766F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67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↘</a:t>
            </a:r>
          </a:p>
        </p:txBody>
      </p:sp>
      <p:sp>
        <p:nvSpPr>
          <p:cNvPr id="31" name="step-100">
            <a:extLst xmlns:a="http://schemas.openxmlformats.org/drawingml/2006/main">
              <a:ext uri="{FF2B5EF4-FFF2-40B4-BE49-F238E27FC236}">
                <a16:creationId xmlns:a16="http://schemas.microsoft.com/office/drawing/2014/main" id="{3C5AFDE5-9AB7-473C-8A63-1A706FD8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982" y="3810000"/>
            <a:ext cx="17526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8969D6-ACD5-48C7-88BF-701DFFFB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1485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34E4A"/>
                </a:solidFill>
              </a:defRPr>
            </a:pPr>
            <a:r>
              <a:rPr sz="1238" b="1" i="0">
                <a:solidFill>
                  <a:srgbClr val="134E4A"/>
                </a:solidFill>
              </a:rPr>
              <a:t>таблица задолженности + анализ бюджета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6B87E2-EADB-47DC-8637-5B2BA9E5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767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65FFF4-CF61-4E00-8B05-44E43EBA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5" name="step-101">
            <a:extLst xmlns:a="http://schemas.openxmlformats.org/drawingml/2006/main">
              <a:ext uri="{FF2B5EF4-FFF2-40B4-BE49-F238E27FC236}">
                <a16:creationId xmlns:a16="http://schemas.microsoft.com/office/drawing/2014/main" id="{F55A1395-0819-4D40-B011-BD4F2920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532" y="478155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1E0F21-D4CF-4EC1-B19B-27E07269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9585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92400E"/>
                </a:solidFill>
              </a:defRPr>
            </a:pPr>
            <a:r>
              <a:rPr sz="1238" b="1" i="0">
                <a:solidFill>
                  <a:srgbClr val="92400E"/>
                </a:solidFill>
              </a:rPr>
              <a:t>проект заявления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AE6DA7-0136-4169-951E-4BF02D0E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7C32CF-7219-4310-98AE-2267EF47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90E199-396B-4A6F-837B-D4BE9BC6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Клиент загружает кредитную историю, договоры, справки о доходах, документы о детях, алиментах, аренде и медицине. Система показывает, что доход после обязательных расходов не позволяет платить без нарушения минимальных жизненных потребностей.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A9723A-D0F6-489C-B71B-78614F54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0"/>
            <a:ext cx="104203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641158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B9153A-40AC-4908-8150-36F5FD68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6">
            <a:extLst xmlns:a="http://schemas.openxmlformats.org/drawingml/2006/main">
              <a:ext uri="{FF2B5EF4-FFF2-40B4-BE49-F238E27FC236}">
                <a16:creationId xmlns:a16="http://schemas.microsoft.com/office/drawing/2014/main" id="{6C89EACB-0FDB-46B8-A423-339BE1F7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97986-BFFF-4146-9511-308C71EE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F0EAC-229D-4514-A0EC-3A4AC5F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5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E1C6847F-6F42-4B37-9DF7-413B6A45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Обработка входящих юридически значимых документов</a:t>
            </a:r>
          </a:p>
        </p:txBody>
      </p:sp>
      <p:sp>
        <p:nvSpPr>
          <p:cNvPr id="6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8B8D0A04-3EF7-4081-A7B3-FBABAF5F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Претензии, уведомления, требования госорганов и судебные документы превращаются в карточку, задачу и контролируемый срок.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6B324-049B-40EF-BA8C-3E6B2D9C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7C5D3CB1-4DF3-49CA-AB0C-E786277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585BC-98F3-4EBA-BB73-FDF81172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4532D"/>
                </a:solidFill>
              </a:defRPr>
            </a:pPr>
            <a:r>
              <a:rPr sz="1125" b="1" i="0">
                <a:solidFill>
                  <a:srgbClr val="14532D"/>
                </a:solidFill>
              </a:rPr>
              <a:t>почта / ЭДО / скан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D8E40-13B3-47BB-9AAE-418D2051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1E3F6FB5-9C43-4122-ADC5-7401CDE0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26259-0A81-4ABA-A50F-5625F29E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OCR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7CE6F-045C-4691-B3D7-92D1AF1E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C0AC9E52-DACB-4055-BA45-B825E045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E7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C77A1-1FA7-4911-AA2A-F9FFF40E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1D95"/>
                </a:solidFill>
              </a:defRPr>
            </a:pPr>
            <a:r>
              <a:rPr sz="1125" b="1" i="0">
                <a:solidFill>
                  <a:srgbClr val="4C1D95"/>
                </a:solidFill>
              </a:rPr>
              <a:t>тип документа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BE31A-4FDE-47B8-B6F4-FEAA7043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AE077205-C0D7-4BEB-B094-E49022D2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AB117-26F4-453D-9F51-84E32E2E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реквизиты и срок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5EA8B-8038-4E79-977A-C4E84E08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0" name="step-5">
            <a:extLst xmlns:a="http://schemas.openxmlformats.org/drawingml/2006/main">
              <a:ext uri="{FF2B5EF4-FFF2-40B4-BE49-F238E27FC236}">
                <a16:creationId xmlns:a16="http://schemas.microsoft.com/office/drawing/2014/main" id="{13FCA0AA-37B4-4EE0-8DF7-B6A85D29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2C996-9175-40D8-BC42-502DB89E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переименование</a:t>
            </a:r>
          </a:p>
        </p:txBody>
      </p:sp>
      <p:sp>
        <p:nvSpPr>
          <p:cNvPr id="22" name="step-6">
            <a:extLst xmlns:a="http://schemas.openxmlformats.org/drawingml/2006/main">
              <a:ext uri="{FF2B5EF4-FFF2-40B4-BE49-F238E27FC236}">
                <a16:creationId xmlns:a16="http://schemas.microsoft.com/office/drawing/2014/main" id="{EEDEBE00-CD40-48B9-971B-3296CB50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60555-9C4A-4FD7-8F3D-B4A643F7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папка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E019C-3B4B-4888-98A1-B88F6985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337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step-7">
            <a:extLst xmlns:a="http://schemas.openxmlformats.org/drawingml/2006/main">
              <a:ext uri="{FF2B5EF4-FFF2-40B4-BE49-F238E27FC236}">
                <a16:creationId xmlns:a16="http://schemas.microsoft.com/office/drawing/2014/main" id="{3A23B20C-55BE-45A6-91B0-DBC5856C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9B79C-1021-4538-A46A-8148CB25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карточка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1D0DD4-7625-4EF1-820D-11935377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337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step-8">
            <a:extLst xmlns:a="http://schemas.openxmlformats.org/drawingml/2006/main">
              <a:ext uri="{FF2B5EF4-FFF2-40B4-BE49-F238E27FC236}">
                <a16:creationId xmlns:a16="http://schemas.microsoft.com/office/drawing/2014/main" id="{3ADFAF3B-30EE-480C-ABA4-4AFBA4F2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3F7D20-BA3F-4815-9B19-C59726C3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задача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496EA2-8B62-45DF-A585-C806772B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337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1" name="step-9">
            <a:extLst xmlns:a="http://schemas.openxmlformats.org/drawingml/2006/main">
              <a:ext uri="{FF2B5EF4-FFF2-40B4-BE49-F238E27FC236}">
                <a16:creationId xmlns:a16="http://schemas.microsoft.com/office/drawing/2014/main" id="{EF29AF59-AF49-43C0-B624-0A861B64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1742EE-8C6F-40DA-BC96-3E2D0624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напоминание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03592-5997-485E-9CBD-A5EBC3EA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4" name="step-10">
            <a:extLst xmlns:a="http://schemas.openxmlformats.org/drawingml/2006/main">
              <a:ext uri="{FF2B5EF4-FFF2-40B4-BE49-F238E27FC236}">
                <a16:creationId xmlns:a16="http://schemas.microsoft.com/office/drawing/2014/main" id="{5D7B295A-B4CD-4597-907A-B64DC0CE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15E82E-A9EC-4AF0-B000-144B94C3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архив результата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614A5E-4FC4-491D-8DA5-C555278B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B8904A-41D7-44D7-B271-59D1E7E6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54D029-D8AD-488E-B0E9-DCA298EB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Пришла претензия. Система извлекает контрагента, дату, срок ответа и номер договора, сохраняет файл в папку «Претензии/2026/Контрагент», создаёт задачу юристу и включает напоминание.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B20103-110A-4C37-AD51-5992281A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0"/>
            <a:ext cx="104203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696919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B8F68C-F966-45A5-92A4-91AE89FD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7">
            <a:extLst xmlns:a="http://schemas.openxmlformats.org/drawingml/2006/main">
              <a:ext uri="{FF2B5EF4-FFF2-40B4-BE49-F238E27FC236}">
                <a16:creationId xmlns:a16="http://schemas.microsoft.com/office/drawing/2014/main" id="{816E4E6C-9217-42CA-8843-3B82D582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FF396-FFBC-45F3-A2F9-7789AFF7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404A6-6E0A-477C-8A98-48609A2C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5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F71D86C5-EE47-4CEE-A57D-14F76B56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Личный юридический ассистент запускает другие автоматизации</a:t>
            </a:r>
          </a:p>
        </p:txBody>
      </p:sp>
      <p:sp>
        <p:nvSpPr>
          <p:cNvPr id="6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B8A406DC-93BE-4F1D-806E-32061CD9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Юрист управляет системой текстом или голосом: ассистент распознаёт команду, проверяет доступ и запускает нужный сценарий.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90E49-6A4A-409B-A204-9E1A005E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1DB559F4-7894-4D7C-850F-736E1D13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956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2719B-31FE-49C8-8F56-59A99AA0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909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банкротство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881E2-6ADF-423D-BD0E-BACD52BE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64748B"/>
                </a:solidFill>
              </a:defRPr>
            </a:pPr>
            <a:r>
              <a:rPr sz="2100" b="1" i="0">
                <a:solidFill>
                  <a:srgbClr val="64748B"/>
                </a:solidFill>
              </a:rPr>
              <a:t>↘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1F5B3E42-C1B4-4840-AEDF-AA55C371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956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0B0EF-DCEF-4D04-A7F7-4C14F3DA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909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договоры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1078EE66-49EE-480F-88CE-794FA7A4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95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CBCB5-94ED-4F66-8351-FBEC9C47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91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расчёты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D01E0-7812-4F1C-8ED0-E0F0EA02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62500"/>
            <a:ext cx="2857500" cy="2247900"/>
          </a:xfrm>
          <a:prstGeom xmlns:a="http://schemas.openxmlformats.org/drawingml/2006/main" prst="roundRect">
            <a:avLst>
              <a:gd name="adj" fmla="val 93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D1224-4514-4C16-BD41-D8E6EDBC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19750"/>
            <a:ext cx="2514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ассистент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9C490-B195-4B00-B145-50D07750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00750"/>
            <a:ext cx="2514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6D6E2"/>
                </a:solidFill>
              </a:defRPr>
            </a:pPr>
            <a:r>
              <a:rPr sz="1050" b="0" i="0">
                <a:solidFill>
                  <a:srgbClr val="B6D6E2"/>
                </a:solidFill>
              </a:rPr>
              <a:t>распознаёт команду и запускает сценарий</a:t>
            </a:r>
          </a:p>
        </p:txBody>
      </p:sp>
      <p:sp>
        <p:nvSpPr>
          <p:cNvPr id="18" name="step-4">
            <a:extLst xmlns:a="http://schemas.openxmlformats.org/drawingml/2006/main">
              <a:ext uri="{FF2B5EF4-FFF2-40B4-BE49-F238E27FC236}">
                <a16:creationId xmlns:a16="http://schemas.microsoft.com/office/drawing/2014/main" id="{CCF27D96-BF3B-4374-8844-463EE242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95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6E259-52C2-49EB-A1B0-C38516F4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91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документы</a:t>
            </a:r>
          </a:p>
        </p:txBody>
      </p:sp>
      <p:sp>
        <p:nvSpPr>
          <p:cNvPr id="20" name="step-5">
            <a:extLst xmlns:a="http://schemas.openxmlformats.org/drawingml/2006/main">
              <a:ext uri="{FF2B5EF4-FFF2-40B4-BE49-F238E27FC236}">
                <a16:creationId xmlns:a16="http://schemas.microsoft.com/office/drawing/2014/main" id="{BD5A00D2-9BF5-4A28-9D1D-0ECA2423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1153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D059E6-7450-4119-B996-37240822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82105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календарь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3B36A-4B73-43E9-B789-ED1802D5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15340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64748B"/>
                </a:solidFill>
              </a:defRPr>
            </a:pPr>
            <a:r>
              <a:rPr sz="2100" b="1" i="0">
                <a:solidFill>
                  <a:srgbClr val="64748B"/>
                </a:solidFill>
              </a:rPr>
              <a:t>↗</a:t>
            </a:r>
          </a:p>
        </p:txBody>
      </p:sp>
      <p:sp>
        <p:nvSpPr>
          <p:cNvPr id="23" name="step-6">
            <a:extLst xmlns:a="http://schemas.openxmlformats.org/drawingml/2006/main">
              <a:ext uri="{FF2B5EF4-FFF2-40B4-BE49-F238E27FC236}">
                <a16:creationId xmlns:a16="http://schemas.microsoft.com/office/drawing/2014/main" id="{2839773F-2081-4A84-8959-0438451E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03910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37A63-46F1-4EDE-AB8A-DE2CA863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813435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локальная база / Яндекс.Диск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EE979-4235-4D0A-AD93-F3957894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46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5555F-4969-47BC-8702-F4FB12DA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9EA417-6A67-4C98-869F-4D0A57CC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Юрист говорит: «Составь лист кредиторов для Иванова». Система находит автоматизацию «банкротное досье», берёт данные из хранилища или Яндекс.Диска, запускает обработку и возвращает таблицу.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D0AF6F-DFEF-406D-A37B-5CB0F602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0420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7C8792"/>
                </a:solidFill>
              </a:defRPr>
            </a:pPr>
            <a:r>
              <a:rPr sz="825" b="0" i="0">
                <a:solidFill>
                  <a:srgbClr val="7C8792"/>
                </a:solidFill>
              </a:rPr>
              <a:t>Техническая опора: Yandex Disk REST API использует HTTP-запросы для работы с файлами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4255037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DA232E-24FB-4219-B514-B652836B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8">
            <a:extLst xmlns:a="http://schemas.openxmlformats.org/drawingml/2006/main">
              <a:ext uri="{FF2B5EF4-FFF2-40B4-BE49-F238E27FC236}">
                <a16:creationId xmlns:a16="http://schemas.microsoft.com/office/drawing/2014/main" id="{52D6873B-B08F-411C-A1F8-9F99059A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32234-F644-4EC5-B786-84CAA4F8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6FE09-FA5A-42F1-99CE-31F4F00B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5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8870C2A0-8331-4122-8A61-B9D34369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Претензионно-исковой маршрут по задолженности</a:t>
            </a:r>
          </a:p>
        </p:txBody>
      </p:sp>
      <p:sp>
        <p:nvSpPr>
          <p:cNvPr id="6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66EE28B0-26C9-49D3-B077-E3498926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Путь от сигнала о долге до претензии, таймера ответа и искового пакета становится управляемым процессом.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79D1F-11FE-490A-B228-E7D8BF32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4C0BF7DD-95F2-4D3E-B8BB-BDA25A4B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606FC-6D7C-42A2-9EB6-CA068E5E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4532D"/>
                </a:solidFill>
              </a:defRPr>
            </a:pPr>
            <a:r>
              <a:rPr sz="1125" b="1" i="0">
                <a:solidFill>
                  <a:srgbClr val="14532D"/>
                </a:solidFill>
              </a:rPr>
              <a:t>сообщение о долге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FF232-708B-4274-AAE4-2BD0BEAB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9ACD1684-99C9-405A-96A3-4C0595E6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118F8-7A23-41EB-8157-A00A2C4B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договор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54B0F-E3BA-4D71-88FA-30AD8F63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A68142DF-5F8A-43E9-BA8B-F6A48A60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D6F83-067E-416A-802A-62CBCA6D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акты / счета / УПД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083C1-6E35-473D-9363-9459DD6F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9D93387B-2B37-4F8A-9666-8758760B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E926F-84B7-4100-A471-7BE4B32D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срок оплаты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CBF6A6D0-FB2D-448C-9D91-4BB610E7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FE3CA-AE16-4825-9DE7-FF6C8D22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расчёт долга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3877A-D2DC-461C-8535-401574FA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337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step-6">
            <a:extLst xmlns:a="http://schemas.openxmlformats.org/drawingml/2006/main">
              <a:ext uri="{FF2B5EF4-FFF2-40B4-BE49-F238E27FC236}">
                <a16:creationId xmlns:a16="http://schemas.microsoft.com/office/drawing/2014/main" id="{773EEF24-F062-48C0-98F2-9B7E18EB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0497E-68C8-4C02-AFD1-8FE6DC38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претензия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FD3F0-F4CC-4CEF-812D-264B4781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337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step-7">
            <a:extLst xmlns:a="http://schemas.openxmlformats.org/drawingml/2006/main">
              <a:ext uri="{FF2B5EF4-FFF2-40B4-BE49-F238E27FC236}">
                <a16:creationId xmlns:a16="http://schemas.microsoft.com/office/drawing/2014/main" id="{A0674562-07C7-4BF8-A56F-602EB1F2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F250D-97B3-4D40-999A-D144CFFE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согласование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A45E3-8801-4821-B66F-EE7ED5A1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337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step-8">
            <a:extLst xmlns:a="http://schemas.openxmlformats.org/drawingml/2006/main">
              <a:ext uri="{FF2B5EF4-FFF2-40B4-BE49-F238E27FC236}">
                <a16:creationId xmlns:a16="http://schemas.microsoft.com/office/drawing/2014/main" id="{20B00B8F-D214-4698-8D89-B1447DA4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E114C0-6E65-4E6A-A73C-9EC3FAE2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таймер ответа</a:t>
            </a:r>
          </a:p>
        </p:txBody>
      </p:sp>
      <p:sp>
        <p:nvSpPr>
          <p:cNvPr id="30" name="step-70">
            <a:extLst xmlns:a="http://schemas.openxmlformats.org/drawingml/2006/main">
              <a:ext uri="{FF2B5EF4-FFF2-40B4-BE49-F238E27FC236}">
                <a16:creationId xmlns:a16="http://schemas.microsoft.com/office/drawing/2014/main" id="{34AE6F91-611B-4ABA-87C7-1D7A1FF7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982" y="33909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4758D-75EB-4B31-9041-ED61190A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052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92400E"/>
                </a:solidFill>
              </a:defRPr>
            </a:pPr>
            <a:r>
              <a:rPr sz="1238" b="1" i="0">
                <a:solidFill>
                  <a:srgbClr val="92400E"/>
                </a:solidFill>
              </a:rPr>
              <a:t>оплатил?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B0D9D2-6728-4BF4-93BD-0C87BED3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06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5803D"/>
                </a:solidFill>
              </a:defRPr>
            </a:pPr>
            <a:r>
              <a:rPr sz="1200" b="1" i="0">
                <a:solidFill>
                  <a:srgbClr val="15803D"/>
                </a:solidFill>
              </a:rPr>
              <a:t>Если да</a:t>
            </a:r>
          </a:p>
        </p:txBody>
      </p:sp>
      <p:sp>
        <p:nvSpPr>
          <p:cNvPr id="33" name="step-71">
            <a:extLst xmlns:a="http://schemas.openxmlformats.org/drawingml/2006/main">
              <a:ext uri="{FF2B5EF4-FFF2-40B4-BE49-F238E27FC236}">
                <a16:creationId xmlns:a16="http://schemas.microsoft.com/office/drawing/2014/main" id="{6C9D7DD0-C322-49F5-9546-BD94B35F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1561"/>
            <a:ext cx="1752600" cy="417271"/>
          </a:xfrm>
          <a:prstGeom xmlns:a="http://schemas.openxmlformats.org/drawingml/2006/main" prst="roundRect">
            <a:avLst>
              <a:gd name="adj" fmla="val 36523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05E9A0-B9B8-4EB1-8D52-0CAD0B32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4532D"/>
                </a:solidFill>
              </a:defRPr>
            </a:pPr>
            <a:r>
              <a:rPr sz="1238" b="1" i="0">
                <a:solidFill>
                  <a:srgbClr val="14532D"/>
                </a:solidFill>
              </a:rPr>
              <a:t>закрыть дело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B56033-9A7D-4A46-B0DB-1BD77031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506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45309"/>
                </a:solidFill>
              </a:defRPr>
            </a:pPr>
            <a:r>
              <a:rPr sz="1200" b="1" i="0">
                <a:solidFill>
                  <a:srgbClr val="B45309"/>
                </a:solidFill>
              </a:rPr>
              <a:t>Если нет / есть риск</a:t>
            </a:r>
          </a:p>
        </p:txBody>
      </p:sp>
      <p:sp>
        <p:nvSpPr>
          <p:cNvPr id="36" name="step-72">
            <a:extLst xmlns:a="http://schemas.openxmlformats.org/drawingml/2006/main">
              <a:ext uri="{FF2B5EF4-FFF2-40B4-BE49-F238E27FC236}">
                <a16:creationId xmlns:a16="http://schemas.microsoft.com/office/drawing/2014/main" id="{E0164435-AF62-426F-B550-BCC6F872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157" y="4261561"/>
            <a:ext cx="1752600" cy="417271"/>
          </a:xfrm>
          <a:prstGeom xmlns:a="http://schemas.openxmlformats.org/drawingml/2006/main" prst="roundRect">
            <a:avLst>
              <a:gd name="adj" fmla="val 3652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B5A66D-1D1E-4CD8-8246-E1AF702D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15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7F1D1D"/>
                </a:solidFill>
              </a:defRPr>
            </a:pPr>
            <a:r>
              <a:rPr sz="1238" b="1" i="0">
                <a:solidFill>
                  <a:srgbClr val="7F1D1D"/>
                </a:solidFill>
              </a:rPr>
              <a:t>иск + приложения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625840-C8E6-469C-BA57-0CD22C86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EFF9DC-5843-4BB2-B2BC-15DCF70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6AE078-9604-4435-BD16-3BAC3DED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Сотрудник пишет: «Контрагент не оплатил». Система подтягивает документы, готовит претензию и ставит срок ответа. Если оплаты нет, собирает доказательства направления претензии и основу для иска.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E8383F-AAB1-460D-9EE7-4298F9DB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0"/>
            <a:ext cx="104203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636519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F6DC26-F35A-4C60-AE6A-34C62376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9">
            <a:extLst xmlns:a="http://schemas.openxmlformats.org/drawingml/2006/main">
              <a:ext uri="{FF2B5EF4-FFF2-40B4-BE49-F238E27FC236}">
                <a16:creationId xmlns:a16="http://schemas.microsoft.com/office/drawing/2014/main" id="{68482471-D81F-48AA-8B97-BC1676CC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454C1-B599-472C-8EAE-52FA6B2F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5F56F-A848-428B-AC79-A46927D3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5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352677CD-37B6-4398-9533-029C7F47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Расчётный модуль для исков и претензий</a:t>
            </a:r>
          </a:p>
        </p:txBody>
      </p:sp>
      <p:sp>
        <p:nvSpPr>
          <p:cNvPr id="6" name="slide-9-subtitle">
            <a:extLst xmlns:a="http://schemas.openxmlformats.org/drawingml/2006/main">
              <a:ext uri="{FF2B5EF4-FFF2-40B4-BE49-F238E27FC236}">
                <a16:creationId xmlns:a16="http://schemas.microsoft.com/office/drawing/2014/main" id="{93739DA2-570A-4FF6-A9A6-6A7E024F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ЖКХ, земля и платежи: формулы из базы нормативных актов подставляются в расчёт для претензии или иска.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1B702-F7CC-4954-90B9-BE5A75BA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8FFE54AD-0B18-4068-9ACE-52D15E5F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1CBC4-F109-4D59-BD9C-8E9ECF60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4532D"/>
                </a:solidFill>
              </a:defRPr>
            </a:pPr>
            <a:r>
              <a:rPr sz="1125" b="1" i="0">
                <a:solidFill>
                  <a:srgbClr val="14532D"/>
                </a:solidFill>
              </a:rPr>
              <a:t>задача: иск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D40C5-9329-49E0-973E-9AAF2960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55663088-9381-48F1-96D4-14E289C3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CBB9D-4322-4C84-820C-835BF358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384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квитанции / договор / тарифы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51A7E-7EA1-4A41-B319-729AF845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6376CFC3-DD95-4C0B-96B1-02DC507D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84BF2-5A67-4E09-8956-94D13055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384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площадь, период, тариф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0CDD0-B5BC-40CD-A730-4B2BC912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98EBD822-44FB-4B5E-AABF-46340213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CD96A-739B-4DEF-87E8-266AF605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формула из базы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0C16EC08-A5E4-4360-B02A-07D4C288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3622D-3BC9-4439-95E3-6029429F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расчёт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37756-3ADF-4769-BFAB-4165B05A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step-6">
            <a:extLst xmlns:a="http://schemas.openxmlformats.org/drawingml/2006/main">
              <a:ext uri="{FF2B5EF4-FFF2-40B4-BE49-F238E27FC236}">
                <a16:creationId xmlns:a16="http://schemas.microsoft.com/office/drawing/2014/main" id="{33F9860D-5E9B-4BA7-9BFD-7C7653DE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94322-9856-49E8-9E42-962B7C99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сравнение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A5AE9-7B1C-43FA-ABF6-561C815E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step-7">
            <a:extLst xmlns:a="http://schemas.openxmlformats.org/drawingml/2006/main">
              <a:ext uri="{FF2B5EF4-FFF2-40B4-BE49-F238E27FC236}">
                <a16:creationId xmlns:a16="http://schemas.microsoft.com/office/drawing/2014/main" id="{D1E9AD1F-CFE0-4DF1-B2AF-BE69AA33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65C4B-2156-4960-B5E9-DFD0EFE0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таблица переплаты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362A3E-CB67-4102-972F-ADEB4384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step-8">
            <a:extLst xmlns:a="http://schemas.openxmlformats.org/drawingml/2006/main">
              <a:ext uri="{FF2B5EF4-FFF2-40B4-BE49-F238E27FC236}">
                <a16:creationId xmlns:a16="http://schemas.microsoft.com/office/drawing/2014/main" id="{88D71C5A-D5AA-4EFF-B72A-0476291F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67049-ECB3-4809-AE43-401E5803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42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проект претензии / иска</a:t>
            </a:r>
          </a:p>
        </p:txBody>
      </p:sp>
      <p:sp>
        <p:nvSpPr>
          <p:cNvPr id="30" name="step-9">
            <a:extLst xmlns:a="http://schemas.openxmlformats.org/drawingml/2006/main">
              <a:ext uri="{FF2B5EF4-FFF2-40B4-BE49-F238E27FC236}">
                <a16:creationId xmlns:a16="http://schemas.microsoft.com/office/drawing/2014/main" id="{8AB765A6-9756-4891-9962-B9E5774B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8DB7DC-6F9A-4487-AE90-68E7B9F6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проверка юристом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D7F85-DE8D-497A-8D07-7B617119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6E9EDE-859B-4D9A-9AA4-18CFBA13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97706"/>
                </a:solidFill>
              </a:defRPr>
            </a:pPr>
            <a:r>
              <a:rPr sz="1350" b="1" i="0">
                <a:solidFill>
                  <a:srgbClr val="D97706"/>
                </a:solidFill>
              </a:rPr>
              <a:t>Формула как подключаемый модуль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DFDF1A-A3F8-4454-974C-8EDC9C69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Для ЖКХ основой может быть Постановление Правительства РФ от 06.05.2011 № 354: правила указывают на расчёт платы по тарифам, а Приложение № 2 содержит формулы коммунальных начислений.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E90AB6-06F5-4C95-ADE0-914E0E72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0"/>
            <a:ext cx="104203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582176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AFFB7D-BCC5-49B8-AEF0-9E98983E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10">
            <a:extLst xmlns:a="http://schemas.openxmlformats.org/drawingml/2006/main">
              <a:ext uri="{FF2B5EF4-FFF2-40B4-BE49-F238E27FC236}">
                <a16:creationId xmlns:a16="http://schemas.microsoft.com/office/drawing/2014/main" id="{4F31EAA0-D17A-460D-8EC3-F15541DF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36659-199A-4258-A81C-2393D9C4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199FF-68E7-4849-9C2F-62A95FE9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5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A5979FEC-0799-4505-8968-40FBB607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Правовой радар актуальности документов и договоров</a:t>
            </a:r>
          </a:p>
        </p:txBody>
      </p:sp>
      <p:sp>
        <p:nvSpPr>
          <p:cNvPr id="6" name="slide-10-subtitle">
            <a:extLst xmlns:a="http://schemas.openxmlformats.org/drawingml/2006/main">
              <a:ext uri="{FF2B5EF4-FFF2-40B4-BE49-F238E27FC236}">
                <a16:creationId xmlns:a16="http://schemas.microsoft.com/office/drawing/2014/main" id="{EA46FF42-D366-43D3-984B-9653404E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Система регулярно проверяет локальную базу: иски, договоры, шаблоны, претензии, регламенты и заключения.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9867D-FF44-4318-B7C1-1F696E9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2E623983-6485-412F-BC2E-70107A4B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969AD-AF9D-435E-A151-E7376CA0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4532D"/>
                </a:solidFill>
              </a:defRPr>
            </a:pPr>
            <a:r>
              <a:rPr sz="1125" b="1" i="0">
                <a:solidFill>
                  <a:srgbClr val="14532D"/>
                </a:solidFill>
              </a:rPr>
              <a:t>база документов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15C51-D2A5-4CDE-9BCD-9A021920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A64B6002-CA5D-4EAB-9751-E6CD02F2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4707D-7732-4A5B-99F1-B4885EF9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384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каждый понедельник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85A76-0C53-4B02-A38B-2413CF7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8D4FCAE1-D0D1-4BCA-AD80-172D492F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82121-CA96-4F0C-B681-AD450AFC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ссылки на НПА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3B4B5-416C-4058-AC06-2AF88F5F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0117F729-1F99-4B41-BA49-F490E76C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D5108-1AB8-4D94-9D5B-4982821D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проверка редакций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047EE-6B26-420F-82BA-AEFB63BA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0" name="step-5">
            <a:extLst xmlns:a="http://schemas.openxmlformats.org/drawingml/2006/main">
              <a:ext uri="{FF2B5EF4-FFF2-40B4-BE49-F238E27FC236}">
                <a16:creationId xmlns:a16="http://schemas.microsoft.com/office/drawing/2014/main" id="{084677E1-0091-4354-8653-9F9E6506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E7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B8936-1EB2-4F0C-BBB5-48EBF4BB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1D95"/>
                </a:solidFill>
              </a:defRPr>
            </a:pPr>
            <a:r>
              <a:rPr sz="1125" b="1" i="0">
                <a:solidFill>
                  <a:srgbClr val="4C1D95"/>
                </a:solidFill>
              </a:rPr>
              <a:t>изменения</a:t>
            </a:r>
          </a:p>
        </p:txBody>
      </p:sp>
      <p:sp>
        <p:nvSpPr>
          <p:cNvPr id="22" name="step-6">
            <a:extLst xmlns:a="http://schemas.openxmlformats.org/drawingml/2006/main">
              <a:ext uri="{FF2B5EF4-FFF2-40B4-BE49-F238E27FC236}">
                <a16:creationId xmlns:a16="http://schemas.microsoft.com/office/drawing/2014/main" id="{5FAEC26D-06EB-4BBE-B3CF-3F00244B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DBECC-4FC1-48C3-A3B7-B1E0611B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риск-карта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203FD-CA00-423C-ABEE-E2798B1E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051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step-7">
            <a:extLst xmlns:a="http://schemas.openxmlformats.org/drawingml/2006/main">
              <a:ext uri="{FF2B5EF4-FFF2-40B4-BE49-F238E27FC236}">
                <a16:creationId xmlns:a16="http://schemas.microsoft.com/office/drawing/2014/main" id="{ADE61EE7-F05F-4C87-991B-98D9A55F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28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401E2C-5C83-4663-A959-BC78D975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24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задача юристу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B296A-F35C-4607-BF3B-265D8D71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step-8">
            <a:extLst xmlns:a="http://schemas.openxmlformats.org/drawingml/2006/main">
              <a:ext uri="{FF2B5EF4-FFF2-40B4-BE49-F238E27FC236}">
                <a16:creationId xmlns:a16="http://schemas.microsoft.com/office/drawing/2014/main" id="{2B2C6CCD-0EC7-41A1-ACA8-349988C3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EFB1CC-6125-49F1-952D-A79B888F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сводка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87312B-93BD-45F1-AB56-662668C6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1" name="step-9">
            <a:extLst xmlns:a="http://schemas.openxmlformats.org/drawingml/2006/main">
              <a:ext uri="{FF2B5EF4-FFF2-40B4-BE49-F238E27FC236}">
                <a16:creationId xmlns:a16="http://schemas.microsoft.com/office/drawing/2014/main" id="{7D5AC29C-C9BD-4101-9C10-C9EFF6AF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8FE788-226B-4D10-B7CA-BAD0BE5B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4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обновление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7AF911-BC47-42F5-8828-5F0C7686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46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0D0947-F143-4354-A8D6-4DBB16DE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DEAA6C-17BF-47C8-8B1A-C6F75634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Это не «чтение новостей вместо закона». Система опирается на официальные публикации и редакции актов, показывает затронутые документы и создаёт задачи на актуализацию.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6B9F09-97F8-4D53-9A8D-4FD5A2C5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0"/>
            <a:ext cx="10420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7C8792"/>
                </a:solidFill>
              </a:defRPr>
            </a:pPr>
            <a:r>
              <a:rPr sz="825" b="0" i="0">
                <a:solidFill>
                  <a:srgbClr val="7C8792"/>
                </a:solidFill>
              </a:rPr>
              <a:t>Официальный интернет-портал правовой информации содержит публикации, поиск, календарь опубликования и открытые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530947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F0D00F-9F4C-4EAB-9546-39407BF9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11">
            <a:extLst xmlns:a="http://schemas.openxmlformats.org/drawingml/2006/main">
              <a:ext uri="{FF2B5EF4-FFF2-40B4-BE49-F238E27FC236}">
                <a16:creationId xmlns:a16="http://schemas.microsoft.com/office/drawing/2014/main" id="{95596559-8A2C-4AE6-B2BF-39AFFA08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0C339-A616-49FA-A18D-5DC62145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7F651-E39C-4D56-A2A7-D25AB4D9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5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EFF6030-466E-4BA7-8716-C89A1CD6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Проверка договора на стандарты компании</a:t>
            </a:r>
          </a:p>
        </p:txBody>
      </p:sp>
      <p:sp>
        <p:nvSpPr>
          <p:cNvPr id="6" name="slide-11-subtitle">
            <a:extLst xmlns:a="http://schemas.openxmlformats.org/drawingml/2006/main">
              <a:ext uri="{FF2B5EF4-FFF2-40B4-BE49-F238E27FC236}">
                <a16:creationId xmlns:a16="http://schemas.microsoft.com/office/drawing/2014/main" id="{B747A054-2FCE-4C76-87F2-280B2E78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Система сравнивает новый договор с внутренними стандартами и обычной практикой прошлых договоров.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114CA-3A54-4FD7-ABB1-AC958D6D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88C09-3D39-4B13-9C85-EB254880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34155"/>
                </a:solidFill>
              </a:defRPr>
            </a:pPr>
            <a:r>
              <a:rPr sz="1275" b="1" i="0">
                <a:solidFill>
                  <a:srgbClr val="334155"/>
                </a:solidFill>
              </a:rPr>
              <a:t>Новый договор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0E9E63B3-A570-4BD3-A7FA-84B3D9A5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94FAB-2AA2-4A94-A1F8-DBCAF469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4532D"/>
                </a:solidFill>
              </a:defRPr>
            </a:pPr>
            <a:r>
              <a:rPr sz="1125" b="1" i="0">
                <a:solidFill>
                  <a:srgbClr val="14532D"/>
                </a:solidFill>
              </a:rPr>
              <a:t>проект договора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E385A-7099-460B-923D-8E4F26B3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241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C47C048F-9BB0-4BD9-BAB5-82FD3595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80CDB-1245-4EF5-B96B-FE9F8CA5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43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условия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DC65A4AA-52FD-4972-A72D-23F63A5D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F97C9-4475-4262-BD99-8C7F895E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срок / штраф / аванс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74781-C608-4E7A-9641-1475C3B2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57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A781E798-871A-4074-9F4E-875DA86E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051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64016-81BE-4AB0-8EA8-813CD7E0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порядок расторжения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84474-1AB5-4B17-92BA-A90C2500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34155"/>
                </a:solidFill>
              </a:defRPr>
            </a:pPr>
            <a:r>
              <a:rPr sz="1275" b="1" i="0">
                <a:solidFill>
                  <a:srgbClr val="334155"/>
                </a:solidFill>
              </a:rPr>
              <a:t>Стандарты и история</a:t>
            </a:r>
          </a:p>
        </p:txBody>
      </p:sp>
      <p:sp>
        <p:nvSpPr>
          <p:cNvPr id="20" name="step-1">
            <a:extLst xmlns:a="http://schemas.openxmlformats.org/drawingml/2006/main">
              <a:ext uri="{FF2B5EF4-FFF2-40B4-BE49-F238E27FC236}">
                <a16:creationId xmlns:a16="http://schemas.microsoft.com/office/drawing/2014/main" id="{FE8CAF39-FE83-4066-BA81-5862D84C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632" y="2647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D9D16-E43C-4DF4-B8BA-B0E6AEE1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база стандартов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A3C07-2283-467F-B297-3A53F38E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41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3" name="step-2">
            <a:extLst xmlns:a="http://schemas.openxmlformats.org/drawingml/2006/main">
              <a:ext uri="{FF2B5EF4-FFF2-40B4-BE49-F238E27FC236}">
                <a16:creationId xmlns:a16="http://schemas.microsoft.com/office/drawing/2014/main" id="{47358E38-2718-4275-BA8B-06ED8CFF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532" y="2647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D1BD7-B2F5-476B-A454-2978DDB9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прошлые договоры</a:t>
            </a:r>
          </a:p>
        </p:txBody>
      </p:sp>
      <p:sp>
        <p:nvSpPr>
          <p:cNvPr id="25" name="step-3">
            <a:extLst xmlns:a="http://schemas.openxmlformats.org/drawingml/2006/main">
              <a:ext uri="{FF2B5EF4-FFF2-40B4-BE49-F238E27FC236}">
                <a16:creationId xmlns:a16="http://schemas.microsoft.com/office/drawing/2014/main" id="{AFE0F93E-7CF5-4CB2-A552-B7BC4B9A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632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84927-D5FE-4854-AE6F-74811888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обычная практика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E8B34D-78D5-4890-B54B-5B42CF1C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step-4">
            <a:extLst xmlns:a="http://schemas.openxmlformats.org/drawingml/2006/main">
              <a:ext uri="{FF2B5EF4-FFF2-40B4-BE49-F238E27FC236}">
                <a16:creationId xmlns:a16="http://schemas.microsoft.com/office/drawing/2014/main" id="{42C4EC17-07E0-4F4A-8F68-04058C60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532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F8DBF8-F3AB-4200-9764-F6D34B5C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порог риска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67A98E-8E0E-4549-8AB4-F1EE345B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↘</a:t>
            </a:r>
          </a:p>
        </p:txBody>
      </p:sp>
      <p:sp>
        <p:nvSpPr>
          <p:cNvPr id="31" name="step-100">
            <a:extLst xmlns:a="http://schemas.openxmlformats.org/drawingml/2006/main">
              <a:ext uri="{FF2B5EF4-FFF2-40B4-BE49-F238E27FC236}">
                <a16:creationId xmlns:a16="http://schemas.microsoft.com/office/drawing/2014/main" id="{867529AB-ECF7-4C3C-AB67-BEDC4C54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982" y="38100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7FDE52-57D6-4C66-9272-590C7D76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34E4A"/>
                </a:solidFill>
              </a:defRPr>
            </a:pPr>
            <a:r>
              <a:rPr sz="1238" b="1" i="0">
                <a:solidFill>
                  <a:srgbClr val="134E4A"/>
                </a:solidFill>
              </a:rPr>
              <a:t>сравнение условий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F3C391-4BF0-4669-97A8-D6F2248C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862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5CCAE-F14C-4C7D-85E3-979B840C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7675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5" name="step-101">
            <a:extLst xmlns:a="http://schemas.openxmlformats.org/drawingml/2006/main">
              <a:ext uri="{FF2B5EF4-FFF2-40B4-BE49-F238E27FC236}">
                <a16:creationId xmlns:a16="http://schemas.microsoft.com/office/drawing/2014/main" id="{EC16BB6D-DBF2-42A9-BE88-850CC3F6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532" y="440055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0A2E9F-9D7B-48C0-B083-3A4DCF20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1485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92400E"/>
                </a:solidFill>
              </a:defRPr>
            </a:pPr>
            <a:r>
              <a:rPr sz="1238" b="1" i="0">
                <a:solidFill>
                  <a:srgbClr val="92400E"/>
                </a:solidFill>
              </a:rPr>
              <a:t>отклонение + риск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417B8D-3E39-4BDF-9231-978F3D71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28DDBA-1505-4026-8955-612BCAB7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9F31D6-26C7-4E3C-BDD7-50289EEE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Если обычный срок поставки — до 10 дней, а в новом договоре указано 15 дней, система помечает отклонение и требует проверки юриста.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B22CBD-D735-410C-9B59-AF7A3E3F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0"/>
            <a:ext cx="104203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770742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81A8F1-5342-416D-84FA-BCA8A11F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12">
            <a:extLst xmlns:a="http://schemas.openxmlformats.org/drawingml/2006/main">
              <a:ext uri="{FF2B5EF4-FFF2-40B4-BE49-F238E27FC236}">
                <a16:creationId xmlns:a16="http://schemas.microsoft.com/office/drawing/2014/main" id="{DE358F6E-A1CC-4EF3-AD05-851D61C9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368F9-758D-412D-9FFD-1B6C1207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A554B-238A-44FD-861C-1602D0D8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5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CD70E19B-94BC-4DD1-81C1-FBB1CCBE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Контроль действий юриста и прозрачность отклонений</a:t>
            </a:r>
          </a:p>
        </p:txBody>
      </p:sp>
      <p:sp>
        <p:nvSpPr>
          <p:cNvPr id="6" name="slide-12-subtitle">
            <a:extLst xmlns:a="http://schemas.openxmlformats.org/drawingml/2006/main">
              <a:ext uri="{FF2B5EF4-FFF2-40B4-BE49-F238E27FC236}">
                <a16:creationId xmlns:a16="http://schemas.microsoft.com/office/drawing/2014/main" id="{F45BC082-793A-447A-9ABA-3E953BD4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Руководитель видит, где юрист отходит от стандартов компании и какие решения требуют объяснения.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18923-4A40-4347-972A-11014632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8539F292-D545-4B03-86C1-C297FB84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A1DE8-E534-47A0-BE5B-11D204DC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4532D"/>
                </a:solidFill>
              </a:defRPr>
            </a:pPr>
            <a:r>
              <a:rPr sz="1125" b="1" i="0">
                <a:solidFill>
                  <a:srgbClr val="14532D"/>
                </a:solidFill>
              </a:rPr>
              <a:t>юрист редактирует договор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10E05-8FF9-488C-A808-FE26F1BE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757C5EAC-7B6D-4208-B050-C0C1C851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24421-41B0-4D86-BF7C-03BDD580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фиксация действий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1C28C-F356-4283-8D18-BDECDE1F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155E74F8-ED2E-4DB6-8715-15FC1B32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FCFF4-6FC4-492C-A9DF-06C35156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384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сравнение со стандартом</a:t>
            </a:r>
          </a:p>
        </p:txBody>
      </p:sp>
      <p:sp>
        <p:nvSpPr>
          <p:cNvPr id="16" name="step-70">
            <a:extLst xmlns:a="http://schemas.openxmlformats.org/drawingml/2006/main">
              <a:ext uri="{FF2B5EF4-FFF2-40B4-BE49-F238E27FC236}">
                <a16:creationId xmlns:a16="http://schemas.microsoft.com/office/drawing/2014/main" id="{6865FCDF-B362-4DBA-AFCF-43BF2E6E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982" y="30480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E9CA4-B63F-4321-BDDC-A61F9F45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623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92400E"/>
                </a:solidFill>
              </a:defRPr>
            </a:pPr>
            <a:r>
              <a:rPr sz="1238" b="1" i="0">
                <a:solidFill>
                  <a:srgbClr val="92400E"/>
                </a:solidFill>
              </a:rPr>
              <a:t>есть отклонение?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6F6B8-C303-469E-9384-5624AF6C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06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5803D"/>
                </a:solidFill>
              </a:defRPr>
            </a:pPr>
            <a:r>
              <a:rPr sz="1200" b="1" i="0">
                <a:solidFill>
                  <a:srgbClr val="15803D"/>
                </a:solidFill>
              </a:rPr>
              <a:t>Если да</a:t>
            </a:r>
          </a:p>
        </p:txBody>
      </p:sp>
      <p:sp>
        <p:nvSpPr>
          <p:cNvPr id="19" name="step-71">
            <a:extLst xmlns:a="http://schemas.openxmlformats.org/drawingml/2006/main">
              <a:ext uri="{FF2B5EF4-FFF2-40B4-BE49-F238E27FC236}">
                <a16:creationId xmlns:a16="http://schemas.microsoft.com/office/drawing/2014/main" id="{51248EDB-6894-499D-85F8-1079216A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8661"/>
            <a:ext cx="1752600" cy="605942"/>
          </a:xfrm>
          <a:prstGeom xmlns:a="http://schemas.openxmlformats.org/drawingml/2006/main" prst="roundRect">
            <a:avLst>
              <a:gd name="adj" fmla="val 25151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58CC2-A897-4B4B-8C42-C86CD1DF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485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4532D"/>
                </a:solidFill>
              </a:defRPr>
            </a:pPr>
            <a:r>
              <a:rPr sz="1238" b="1" i="0">
                <a:solidFill>
                  <a:srgbClr val="14532D"/>
                </a:solidFill>
              </a:rPr>
              <a:t>журнал без эскалации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81505-0FDF-4C27-9155-95EB2FCD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38550"/>
            <a:ext cx="506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45309"/>
                </a:solidFill>
              </a:defRPr>
            </a:pPr>
            <a:r>
              <a:rPr sz="1200" b="1" i="0">
                <a:solidFill>
                  <a:srgbClr val="B45309"/>
                </a:solidFill>
              </a:rPr>
              <a:t>Если нет / есть риск</a:t>
            </a:r>
          </a:p>
        </p:txBody>
      </p:sp>
      <p:sp>
        <p:nvSpPr>
          <p:cNvPr id="22" name="step-72">
            <a:extLst xmlns:a="http://schemas.openxmlformats.org/drawingml/2006/main">
              <a:ext uri="{FF2B5EF4-FFF2-40B4-BE49-F238E27FC236}">
                <a16:creationId xmlns:a16="http://schemas.microsoft.com/office/drawing/2014/main" id="{2E11FD00-4BD9-4CC2-817D-5013324B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157" y="3918661"/>
            <a:ext cx="1752600" cy="794614"/>
          </a:xfrm>
          <a:prstGeom xmlns:a="http://schemas.openxmlformats.org/drawingml/2006/main" prst="roundRect">
            <a:avLst>
              <a:gd name="adj" fmla="val 1917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78CA0-A068-4FA0-A648-1217E955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1485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7F1D1D"/>
                </a:solidFill>
              </a:defRPr>
            </a:pPr>
            <a:r>
              <a:rPr sz="1238" b="1" i="0">
                <a:solidFill>
                  <a:srgbClr val="7F1D1D"/>
                </a:solidFill>
              </a:rPr>
              <a:t>комментарий + уведомление руководителя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063C6-9186-4DB8-92DF-387D2C3E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D6F2A-2F29-4BE4-817E-3A963893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019F4-07DF-4386-A074-B125EAB2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Юрист согласовал отсрочку платежа 60 дней вместо обычных 10. Система не блокирует работу, но требует комментарий: почему принято отклонение. При высоком риске руководитель получает уведомление.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F990C4-7615-4C6B-AD56-EBF65104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0"/>
            <a:ext cx="104203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7754469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E6AA93-4E43-4756-942E-4E6D4BCE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13">
            <a:extLst xmlns:a="http://schemas.openxmlformats.org/drawingml/2006/main">
              <a:ext uri="{FF2B5EF4-FFF2-40B4-BE49-F238E27FC236}">
                <a16:creationId xmlns:a16="http://schemas.microsoft.com/office/drawing/2014/main" id="{7C14882D-B235-4053-A137-194DB639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2503A-3CD0-4FA8-836B-9B419AA3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7D17E-1534-41C8-A28E-4EBF2EC9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5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FC3AA67B-4326-4A97-A62F-C4F0588C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Внутренний запрос сотрудника на юридическую помощь</a:t>
            </a:r>
          </a:p>
        </p:txBody>
      </p:sp>
      <p:sp>
        <p:nvSpPr>
          <p:cNvPr id="6" name="slide-13-subtitle">
            <a:extLst xmlns:a="http://schemas.openxmlformats.org/drawingml/2006/main">
              <a:ext uri="{FF2B5EF4-FFF2-40B4-BE49-F238E27FC236}">
                <a16:creationId xmlns:a16="http://schemas.microsoft.com/office/drawing/2014/main" id="{558343BD-BF56-4F69-9408-65FCCC1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Сотрудник обращается не хаотичным письмом, а через управляемый маршрут с проверкой комплектности.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441D9-0C19-4703-ADA5-255DAE83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A49C848C-B4B4-4253-8660-B2CF495F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C6D46-7E5E-4707-9476-225DB87C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4532D"/>
                </a:solidFill>
              </a:defRPr>
            </a:pPr>
            <a:r>
              <a:rPr sz="1125" b="1" i="0">
                <a:solidFill>
                  <a:srgbClr val="14532D"/>
                </a:solidFill>
              </a:rPr>
              <a:t>запрос сотрудника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F5AA7-9ED3-42C6-8980-73F8C365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CAD7172C-965A-4D2D-9B77-D2165D95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450CB-DE13-430E-AEA6-965E5E5E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384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свободное описание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5283A-DCA8-4A15-9C4A-A03FA8E8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EDA983F8-A6DD-411B-9CEC-B151D892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E7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0295B-8434-428C-95F5-B27AE2CE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1D95"/>
                </a:solidFill>
              </a:defRPr>
            </a:pPr>
            <a:r>
              <a:rPr sz="1125" b="1" i="0">
                <a:solidFill>
                  <a:srgbClr val="4C1D95"/>
                </a:solidFill>
              </a:rPr>
              <a:t>AI-категория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C5C86-C016-41F6-932B-611F23BE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9C62D62C-EB40-4CA0-A32B-8336733C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BE341-E3FC-4D9A-8CCB-C481116C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уточняющая анкета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709F1-BBD3-4C7F-85C3-9AF3E7C9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0" name="step-5">
            <a:extLst xmlns:a="http://schemas.openxmlformats.org/drawingml/2006/main">
              <a:ext uri="{FF2B5EF4-FFF2-40B4-BE49-F238E27FC236}">
                <a16:creationId xmlns:a16="http://schemas.microsoft.com/office/drawing/2014/main" id="{9BF9BF35-82BE-4887-B2EA-08431311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9454E-1A15-4E1B-A6D6-8C34AC5F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146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проверка вложений</a:t>
            </a:r>
          </a:p>
        </p:txBody>
      </p:sp>
      <p:sp>
        <p:nvSpPr>
          <p:cNvPr id="22" name="step-6">
            <a:extLst xmlns:a="http://schemas.openxmlformats.org/drawingml/2006/main">
              <a:ext uri="{FF2B5EF4-FFF2-40B4-BE49-F238E27FC236}">
                <a16:creationId xmlns:a16="http://schemas.microsoft.com/office/drawing/2014/main" id="{5AB0ADFA-2976-42A4-ADCF-0387CC33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22EC8-1BCF-49EC-8820-A38B151D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назначение юриста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114F2-8DBB-485C-A2E8-3D0F1C46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step-7">
            <a:extLst xmlns:a="http://schemas.openxmlformats.org/drawingml/2006/main">
              <a:ext uri="{FF2B5EF4-FFF2-40B4-BE49-F238E27FC236}">
                <a16:creationId xmlns:a16="http://schemas.microsoft.com/office/drawing/2014/main" id="{F84E8F74-5E35-4356-8F45-8C977DFE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70F71-F217-419C-81FE-09494F07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срок исполнения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9D534-DF07-4F20-BDBD-9375052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step-8">
            <a:extLst xmlns:a="http://schemas.openxmlformats.org/drawingml/2006/main">
              <a:ext uri="{FF2B5EF4-FFF2-40B4-BE49-F238E27FC236}">
                <a16:creationId xmlns:a16="http://schemas.microsoft.com/office/drawing/2014/main" id="{884415C4-4D22-4C72-99F5-76E3AB0C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CF49BB-EDC2-4D63-9364-23854FB0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статус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8F6E19-330B-4E72-A7B4-32C94DDA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1" name="step-9">
            <a:extLst xmlns:a="http://schemas.openxmlformats.org/drawingml/2006/main">
              <a:ext uri="{FF2B5EF4-FFF2-40B4-BE49-F238E27FC236}">
                <a16:creationId xmlns:a16="http://schemas.microsoft.com/office/drawing/2014/main" id="{94000DD7-2633-49C7-BE94-6F665EB9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BA0272-A5B9-4E65-9DFF-8FDC20B6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42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отчёт руководителю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20A49A-273E-4594-A9AD-5ADD4743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40859C-F1EB-4805-90F4-624D3E9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A78D4F-C9EE-4A41-A2F3-99774BEA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Сотрудник пишет: «Нужен договор с поставщиком оборудования». Система уточняет сумму, предмет, контрагента, срок поставки, проект договора, аванс и персональные данные. Только комплектный запрос уходит юристу.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7AF1AE-7186-4DF7-B5D0-4EFD597D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0"/>
            <a:ext cx="104203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3667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296A44-F77B-4243-94AE-B19D7EC2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14">
            <a:extLst xmlns:a="http://schemas.openxmlformats.org/drawingml/2006/main">
              <a:ext uri="{FF2B5EF4-FFF2-40B4-BE49-F238E27FC236}">
                <a16:creationId xmlns:a16="http://schemas.microsoft.com/office/drawing/2014/main" id="{80E9FF2E-C46D-4380-9552-1EFA8B58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F9D61-5740-4182-A023-AC0C4FC8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A6796-B1D7-464F-B724-8C57F6A5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5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30677F4E-28B6-48AB-ACD9-7E043F81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Подготовка ответа на запрос госоргана</a:t>
            </a:r>
          </a:p>
        </p:txBody>
      </p:sp>
      <p:sp>
        <p:nvSpPr>
          <p:cNvPr id="6" name="slide-14-subtitle">
            <a:extLst xmlns:a="http://schemas.openxmlformats.org/drawingml/2006/main">
              <a:ext uri="{FF2B5EF4-FFF2-40B4-BE49-F238E27FC236}">
                <a16:creationId xmlns:a16="http://schemas.microsoft.com/office/drawing/2014/main" id="{476F368F-5062-4015-AA33-DA695265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Требование, запрос, уведомление о проверке или предписание превращаются в рабочую группу и контролируемый ответ.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946BB-544B-4368-9D4B-3F82BCB2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F824D-A8AA-4371-AA6C-902144E4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34155"/>
                </a:solidFill>
              </a:defRPr>
            </a:pPr>
            <a:r>
              <a:rPr sz="1275" b="1" i="0">
                <a:solidFill>
                  <a:srgbClr val="334155"/>
                </a:solidFill>
              </a:rPr>
              <a:t>Входящий запрос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AF9284CB-7FAE-48E0-971C-693F7592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E7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338CE-02CE-447D-841B-E410D1CB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1D95"/>
                </a:solidFill>
              </a:defRPr>
            </a:pPr>
            <a:r>
              <a:rPr sz="1125" b="1" i="0">
                <a:solidFill>
                  <a:srgbClr val="4C1D95"/>
                </a:solidFill>
              </a:rPr>
              <a:t>орган и тип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D58DD-D751-4A8B-B73B-5C7C01B3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241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49F13487-FA91-40A3-9E20-E1DE0CEA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07D81-FD76-4BC9-A1D1-F35AE63B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43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срок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67644B8F-278A-4B33-AD71-D1CCFC8B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97EC5-FE72-41CA-AD52-58019788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рабочая группа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E3365-F6BF-4D84-A4A4-4F113EB8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A0436315-AA0C-444D-9620-27266CEC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DFC56-8CD9-4C6B-B50D-90B7AF3C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проект ответа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60E00-1DA8-404A-BDA4-3B704894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34155"/>
                </a:solidFill>
              </a:defRPr>
            </a:pPr>
            <a:r>
              <a:rPr sz="1275" b="1" i="0">
                <a:solidFill>
                  <a:srgbClr val="334155"/>
                </a:solidFill>
              </a:rPr>
              <a:t>Подразделения</a:t>
            </a:r>
          </a:p>
        </p:txBody>
      </p:sp>
      <p:sp>
        <p:nvSpPr>
          <p:cNvPr id="20" name="step-1">
            <a:extLst xmlns:a="http://schemas.openxmlformats.org/drawingml/2006/main">
              <a:ext uri="{FF2B5EF4-FFF2-40B4-BE49-F238E27FC236}">
                <a16:creationId xmlns:a16="http://schemas.microsoft.com/office/drawing/2014/main" id="{E6B29C70-E749-469F-9EB5-F99AC8A3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632" y="2647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76995-B5B5-4617-BC3A-02893F37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бухгалтерия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5E8C8-895C-4171-9C80-8AF6CEE1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41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3" name="step-2">
            <a:extLst xmlns:a="http://schemas.openxmlformats.org/drawingml/2006/main">
              <a:ext uri="{FF2B5EF4-FFF2-40B4-BE49-F238E27FC236}">
                <a16:creationId xmlns:a16="http://schemas.microsoft.com/office/drawing/2014/main" id="{59C954AD-5979-47DF-AB3E-AE90F44B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532" y="2647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ECC977-CF1B-4189-9677-C64E921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кадры</a:t>
            </a:r>
          </a:p>
        </p:txBody>
      </p:sp>
      <p:sp>
        <p:nvSpPr>
          <p:cNvPr id="25" name="step-3">
            <a:extLst xmlns:a="http://schemas.openxmlformats.org/drawingml/2006/main">
              <a:ext uri="{FF2B5EF4-FFF2-40B4-BE49-F238E27FC236}">
                <a16:creationId xmlns:a16="http://schemas.microsoft.com/office/drawing/2014/main" id="{8206356E-A264-4917-A779-B2DF1869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632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1B2C58-AB93-494F-8436-EA832E60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ИБ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12E9C8-C5E8-4AF3-8ED4-A81D866E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step-4">
            <a:extLst xmlns:a="http://schemas.openxmlformats.org/drawingml/2006/main">
              <a:ext uri="{FF2B5EF4-FFF2-40B4-BE49-F238E27FC236}">
                <a16:creationId xmlns:a16="http://schemas.microsoft.com/office/drawing/2014/main" id="{32340B23-F6E0-4BC0-B18A-CF8D9655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532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C560AD-9D58-4372-8E0C-9A27A6B5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бизнес-блок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6A518E-8754-44CC-A9A5-1240592C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↘</a:t>
            </a:r>
          </a:p>
        </p:txBody>
      </p:sp>
      <p:sp>
        <p:nvSpPr>
          <p:cNvPr id="31" name="step-100">
            <a:extLst xmlns:a="http://schemas.openxmlformats.org/drawingml/2006/main">
              <a:ext uri="{FF2B5EF4-FFF2-40B4-BE49-F238E27FC236}">
                <a16:creationId xmlns:a16="http://schemas.microsoft.com/office/drawing/2014/main" id="{E6ACC440-A156-45D9-953B-F4F15C23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982" y="363855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8ED717-4D2B-4071-B214-715B98B0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5285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34E4A"/>
                </a:solidFill>
              </a:defRPr>
            </a:pPr>
            <a:r>
              <a:rPr sz="1238" b="1" i="0">
                <a:solidFill>
                  <a:srgbClr val="134E4A"/>
                </a:solidFill>
              </a:rPr>
              <a:t>сбор документов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15404-5C4C-4D01-A925-8CFD7433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1475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9354F2-1D8E-4F26-ACC2-EF11A962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0055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5" name="step-101">
            <a:extLst xmlns:a="http://schemas.openxmlformats.org/drawingml/2006/main">
              <a:ext uri="{FF2B5EF4-FFF2-40B4-BE49-F238E27FC236}">
                <a16:creationId xmlns:a16="http://schemas.microsoft.com/office/drawing/2014/main" id="{00F16BCA-EBFC-49FF-A314-D28F8F7A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532" y="4229100"/>
            <a:ext cx="1752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ED22AC-D92B-403A-B96C-FEE44867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43400"/>
            <a:ext cx="1485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92400E"/>
                </a:solidFill>
              </a:defRPr>
            </a:pPr>
            <a:r>
              <a:rPr sz="1238" b="1" i="0">
                <a:solidFill>
                  <a:srgbClr val="92400E"/>
                </a:solidFill>
              </a:rPr>
              <a:t>согласование + архив доказательств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B1882C-59E4-4EAE-AAC6-333F7D70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83DE9B-5468-46D5-8955-D79ACCCE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A0C51E-2C8C-4082-ADC8-95C59B4D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Поступило требование налогового органа. Система ставит срок, создаёт задачи бухгалтерии и юристу, отслеживает загрузку материалов, формирует проект ответа и сохраняет доказательства отправки.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1936BA-CA26-43B5-8A67-637F4746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0"/>
            <a:ext cx="104203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2237338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8C2BF8-31E0-4F88-961B-B9EF47FC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15">
            <a:extLst xmlns:a="http://schemas.openxmlformats.org/drawingml/2006/main">
              <a:ext uri="{FF2B5EF4-FFF2-40B4-BE49-F238E27FC236}">
                <a16:creationId xmlns:a16="http://schemas.microsoft.com/office/drawing/2014/main" id="{6D635D38-106A-4399-B75F-292930A4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C16CD-A4B6-49C0-9707-92F632F7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D7BD0-4114-4AD3-8EFB-11E8E844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5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622CDB0C-41F3-4822-9A67-A09BCC4E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Типовой документ с проверкой стоп-факторов</a:t>
            </a:r>
          </a:p>
        </p:txBody>
      </p:sp>
      <p:sp>
        <p:nvSpPr>
          <p:cNvPr id="6" name="slide-15-subtitle">
            <a:extLst xmlns:a="http://schemas.openxmlformats.org/drawingml/2006/main">
              <a:ext uri="{FF2B5EF4-FFF2-40B4-BE49-F238E27FC236}">
                <a16:creationId xmlns:a16="http://schemas.microsoft.com/office/drawing/2014/main" id="{8D960245-6906-4DD7-ADA4-74AD4D6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NDA, доверенность, уведомление, допсоглашение, акт, письмо или претензия готовятся быстро, но рискованные случаи уходят юристу.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544AF-2588-4C5E-9F4A-44AEE001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E9A1D7FA-DF69-4AF1-ADD7-57324641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AB276-8477-4778-8E2E-89CFCACF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4532D"/>
                </a:solidFill>
              </a:defRPr>
            </a:pPr>
            <a:r>
              <a:rPr sz="1125" b="1" i="0">
                <a:solidFill>
                  <a:srgbClr val="14532D"/>
                </a:solidFill>
              </a:rPr>
              <a:t>выбор документа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596F0-70D8-40B4-98E6-2B4D3E5B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919E3D83-20A8-4B98-AA18-DF878053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E0BCE-E7AF-41D1-B1F8-206A431B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описание 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CC994-46E0-41BE-8B3E-8D8ABB16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13CFB96E-15DB-4FA2-B524-078D3398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E82B3-0E1D-4E61-A8DB-8855BD86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анкета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03825-8D79-4770-A3DC-D9934F21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21C45E04-3D46-4350-9477-B6DD1808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93826-0244-4C25-AB5D-23583C1A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стоп-факторы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00A542C5-1922-416E-BC4D-F513CD2D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D7DCC-4CEE-44A5-B6A4-3A372752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шаблон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3F028-210C-4430-84E8-6E865AA8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337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step-6">
            <a:extLst xmlns:a="http://schemas.openxmlformats.org/drawingml/2006/main">
              <a:ext uri="{FF2B5EF4-FFF2-40B4-BE49-F238E27FC236}">
                <a16:creationId xmlns:a16="http://schemas.microsoft.com/office/drawing/2014/main" id="{EA296356-C765-4FCF-BD5B-FEBB8AD4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CA9D76-0F48-40BA-87D6-04EC7F99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реквизиты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FD424-0C36-4EA8-B874-95E51785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337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step-7">
            <a:extLst xmlns:a="http://schemas.openxmlformats.org/drawingml/2006/main">
              <a:ext uri="{FF2B5EF4-FFF2-40B4-BE49-F238E27FC236}">
                <a16:creationId xmlns:a16="http://schemas.microsoft.com/office/drawing/2014/main" id="{02F9E05C-513C-466E-9F8E-053BDA41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3175DF-5052-4975-BA5A-10540E13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проект</a:t>
            </a:r>
          </a:p>
        </p:txBody>
      </p:sp>
      <p:sp>
        <p:nvSpPr>
          <p:cNvPr id="27" name="step-70">
            <a:extLst xmlns:a="http://schemas.openxmlformats.org/drawingml/2006/main">
              <a:ext uri="{FF2B5EF4-FFF2-40B4-BE49-F238E27FC236}">
                <a16:creationId xmlns:a16="http://schemas.microsoft.com/office/drawing/2014/main" id="{BBDDA282-51B3-403F-B499-46A5F98D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982" y="339090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A8FE18-9351-4802-867E-EF34063A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052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92400E"/>
                </a:solidFill>
              </a:defRPr>
            </a:pPr>
            <a:r>
              <a:rPr sz="1238" b="1" i="0">
                <a:solidFill>
                  <a:srgbClr val="92400E"/>
                </a:solidFill>
              </a:rPr>
              <a:t>риск есть?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AF993C-C436-4F3E-9CF2-B2DFC996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06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5803D"/>
                </a:solidFill>
              </a:defRPr>
            </a:pPr>
            <a:r>
              <a:rPr sz="1200" b="1" i="0">
                <a:solidFill>
                  <a:srgbClr val="15803D"/>
                </a:solidFill>
              </a:rPr>
              <a:t>Если да</a:t>
            </a:r>
          </a:p>
        </p:txBody>
      </p:sp>
      <p:sp>
        <p:nvSpPr>
          <p:cNvPr id="30" name="step-71">
            <a:extLst xmlns:a="http://schemas.openxmlformats.org/drawingml/2006/main">
              <a:ext uri="{FF2B5EF4-FFF2-40B4-BE49-F238E27FC236}">
                <a16:creationId xmlns:a16="http://schemas.microsoft.com/office/drawing/2014/main" id="{0399DBFC-75BA-4B83-AB6A-7FE1E9CC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1561"/>
            <a:ext cx="1752600" cy="605942"/>
          </a:xfrm>
          <a:prstGeom xmlns:a="http://schemas.openxmlformats.org/drawingml/2006/main" prst="roundRect">
            <a:avLst>
              <a:gd name="adj" fmla="val 25151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DF2ED8-C36C-40A4-AFC2-AAB59827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1485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4532D"/>
                </a:solidFill>
              </a:defRPr>
            </a:pPr>
            <a:r>
              <a:rPr sz="1238" b="1" i="0">
                <a:solidFill>
                  <a:srgbClr val="14532D"/>
                </a:solidFill>
              </a:rPr>
              <a:t>выдать документ + архив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86AF70-E366-4681-AA48-7A87595F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506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45309"/>
                </a:solidFill>
              </a:defRPr>
            </a:pPr>
            <a:r>
              <a:rPr sz="1200" b="1" i="0">
                <a:solidFill>
                  <a:srgbClr val="B45309"/>
                </a:solidFill>
              </a:rPr>
              <a:t>Если нет / есть риск</a:t>
            </a:r>
          </a:p>
        </p:txBody>
      </p:sp>
      <p:sp>
        <p:nvSpPr>
          <p:cNvPr id="33" name="step-72">
            <a:extLst xmlns:a="http://schemas.openxmlformats.org/drawingml/2006/main">
              <a:ext uri="{FF2B5EF4-FFF2-40B4-BE49-F238E27FC236}">
                <a16:creationId xmlns:a16="http://schemas.microsoft.com/office/drawing/2014/main" id="{3245E318-5099-465F-B826-7B6C893C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157" y="4261561"/>
            <a:ext cx="1752600" cy="417271"/>
          </a:xfrm>
          <a:prstGeom xmlns:a="http://schemas.openxmlformats.org/drawingml/2006/main" prst="roundRect">
            <a:avLst>
              <a:gd name="adj" fmla="val 3652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DCD856-0102-4228-9B41-D11D0D72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15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7F1D1D"/>
                </a:solidFill>
              </a:defRPr>
            </a:pPr>
            <a:r>
              <a:rPr sz="1238" b="1" i="0">
                <a:solidFill>
                  <a:srgbClr val="7F1D1D"/>
                </a:solidFill>
              </a:rPr>
              <a:t>задача юристу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6AF9D1-1EF7-47D9-BE9A-D24AC75B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15E1CE-835B-4848-8B5F-B46DF6A2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F8A6E7-5419-4786-81DC-2E816032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Если документ стандартный — система выдаёт проект. Если есть иностранный контрагент, персональные данные, крупная сумма или нестандартные условия — автоматическая выдача отключается, задача передаётся юристу.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FE5EBD-86D4-4EF5-A8D7-DC38AA69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0"/>
            <a:ext cx="104203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4150663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720C51-A5E4-43A7-84BF-D14235DE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16">
            <a:extLst xmlns:a="http://schemas.openxmlformats.org/drawingml/2006/main">
              <a:ext uri="{FF2B5EF4-FFF2-40B4-BE49-F238E27FC236}">
                <a16:creationId xmlns:a16="http://schemas.microsoft.com/office/drawing/2014/main" id="{93B398ED-F84C-4376-9C47-BB112209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0EB4B-B554-4EAC-B38F-E0029228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F2AB5-EE1D-4485-BCD8-7097E312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5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CE5D4144-657A-4A0E-BA0F-C903D0E5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Судебный трекер с задачами и календарём</a:t>
            </a:r>
          </a:p>
        </p:txBody>
      </p:sp>
      <p:sp>
        <p:nvSpPr>
          <p:cNvPr id="6" name="slide-16-subtitle">
            <a:extLst xmlns:a="http://schemas.openxmlformats.org/drawingml/2006/main">
              <a:ext uri="{FF2B5EF4-FFF2-40B4-BE49-F238E27FC236}">
                <a16:creationId xmlns:a16="http://schemas.microsoft.com/office/drawing/2014/main" id="{D65DFA52-8016-4560-BFED-F63A4CBE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Юрист добавляет номер дела или сторону спора, а система отслеживает события и обновляет карточку дела.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5F64D-1163-4248-A7E3-156F18F8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B2CBE-8326-48A5-BB4D-161C3729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34155"/>
                </a:solidFill>
              </a:defRPr>
            </a:pPr>
            <a:r>
              <a:rPr sz="1275" b="1" i="0">
                <a:solidFill>
                  <a:srgbClr val="334155"/>
                </a:solidFill>
              </a:rPr>
              <a:t>Мониторинг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E2BEB7E9-1299-4270-BB28-37515E4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7EC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71B5F-49BC-4805-8454-E975C03F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4532D"/>
                </a:solidFill>
              </a:defRPr>
            </a:pPr>
            <a:r>
              <a:rPr sz="1125" b="1" i="0">
                <a:solidFill>
                  <a:srgbClr val="14532D"/>
                </a:solidFill>
              </a:rPr>
              <a:t>номер дела / сторона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07692-C076-4C51-B5D3-62EAC893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00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4DE89510-CA8B-4647-8CCF-337041FD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24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E72F4-E19A-4CA2-8658-20492F62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источники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B15908E6-142D-497F-8991-EE6D15EE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E7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0ADC5-2B5C-40B9-8E5B-21973B8A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1D95"/>
                </a:solidFill>
              </a:defRPr>
            </a:pPr>
            <a:r>
              <a:rPr sz="1125" b="1" i="0">
                <a:solidFill>
                  <a:srgbClr val="4C1D95"/>
                </a:solidFill>
              </a:rPr>
              <a:t>новое событие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D5E4F-60CC-4E79-9D4A-032C2865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2900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F7B0A768-B73D-42F1-89A1-D608C57A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7660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EACB2-3BD9-46EA-BB66-38C3A4E1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7185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обновление карточки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7FBAA-1766-43DC-9086-E5399D4D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334155"/>
                </a:solidFill>
              </a:defRPr>
            </a:pPr>
            <a:r>
              <a:rPr sz="1275" b="1" i="0">
                <a:solidFill>
                  <a:srgbClr val="334155"/>
                </a:solidFill>
              </a:rPr>
              <a:t>Автодействия</a:t>
            </a:r>
          </a:p>
        </p:txBody>
      </p:sp>
      <p:sp>
        <p:nvSpPr>
          <p:cNvPr id="20" name="step-1">
            <a:extLst xmlns:a="http://schemas.openxmlformats.org/drawingml/2006/main">
              <a:ext uri="{FF2B5EF4-FFF2-40B4-BE49-F238E27FC236}">
                <a16:creationId xmlns:a16="http://schemas.microsoft.com/office/drawing/2014/main" id="{1EAACBCC-8357-4F13-8B70-9974D341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632" y="2647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5B3BC-7CB3-40E1-A192-B54C835D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F2937"/>
                </a:solidFill>
              </a:defRPr>
            </a:pPr>
            <a:r>
              <a:rPr sz="1125" b="1" i="0">
                <a:solidFill>
                  <a:srgbClr val="1F2937"/>
                </a:solidFill>
              </a:rPr>
              <a:t>судебный акт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0139F-4149-4EA1-A1B0-13C5A581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41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3" name="step-2">
            <a:extLst xmlns:a="http://schemas.openxmlformats.org/drawingml/2006/main">
              <a:ext uri="{FF2B5EF4-FFF2-40B4-BE49-F238E27FC236}">
                <a16:creationId xmlns:a16="http://schemas.microsoft.com/office/drawing/2014/main" id="{91236FEB-DBDF-462A-A63A-154639CE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532" y="26479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447F7F-4C30-4BAC-94FD-CCB5304A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календарь</a:t>
            </a:r>
          </a:p>
        </p:txBody>
      </p:sp>
      <p:sp>
        <p:nvSpPr>
          <p:cNvPr id="25" name="step-3">
            <a:extLst xmlns:a="http://schemas.openxmlformats.org/drawingml/2006/main">
              <a:ext uri="{FF2B5EF4-FFF2-40B4-BE49-F238E27FC236}">
                <a16:creationId xmlns:a16="http://schemas.microsoft.com/office/drawing/2014/main" id="{BD1E1CA3-CFDC-44FE-822B-8B7895ED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632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A7949-1E23-498F-89D4-5481C125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задача юристу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95AC7C-ED66-4065-B4BD-9E445F56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4748B"/>
                </a:solidFill>
              </a:defRPr>
            </a:pPr>
            <a:r>
              <a:rPr sz="15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step-4">
            <a:extLst xmlns:a="http://schemas.openxmlformats.org/drawingml/2006/main">
              <a:ext uri="{FF2B5EF4-FFF2-40B4-BE49-F238E27FC236}">
                <a16:creationId xmlns:a16="http://schemas.microsoft.com/office/drawing/2014/main" id="{4563A8E1-4A3B-493D-93E5-BF94B24B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532" y="31051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7F562B-6E29-4E25-A6B7-C26262E2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уведомление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02A48A-8EFE-4490-9A4D-736AB897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↘</a:t>
            </a:r>
          </a:p>
        </p:txBody>
      </p:sp>
      <p:sp>
        <p:nvSpPr>
          <p:cNvPr id="31" name="step-100">
            <a:extLst xmlns:a="http://schemas.openxmlformats.org/drawingml/2006/main">
              <a:ext uri="{FF2B5EF4-FFF2-40B4-BE49-F238E27FC236}">
                <a16:creationId xmlns:a16="http://schemas.microsoft.com/office/drawing/2014/main" id="{40768422-E473-48D3-8D89-180F86C8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982" y="3981450"/>
            <a:ext cx="17526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3C989A-8FDC-46F6-93C9-36AF5BF2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134E4A"/>
                </a:solidFill>
              </a:defRPr>
            </a:pPr>
            <a:r>
              <a:rPr sz="1238" b="1" i="0">
                <a:solidFill>
                  <a:srgbClr val="134E4A"/>
                </a:solidFill>
              </a:rPr>
              <a:t>контроль подготовки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97FD98-E279-46C4-B928-665779D3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5765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B9749B-AD99-4EAC-AF75-ADE49F6B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4345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4748B"/>
                </a:solidFill>
              </a:defRPr>
            </a:pPr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5" name="step-101">
            <a:extLst xmlns:a="http://schemas.openxmlformats.org/drawingml/2006/main">
              <a:ext uri="{FF2B5EF4-FFF2-40B4-BE49-F238E27FC236}">
                <a16:creationId xmlns:a16="http://schemas.microsoft.com/office/drawing/2014/main" id="{85E44108-4CB9-4BF6-AF2B-9611E5CC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532" y="4572000"/>
            <a:ext cx="17526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E96AFD-BC7F-4856-9D56-4A8FAFBB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1485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8" b="1" i="0">
                <a:solidFill>
                  <a:srgbClr val="92400E"/>
                </a:solidFill>
              </a:defRPr>
            </a:pPr>
            <a:r>
              <a:rPr sz="1238" b="1" i="0">
                <a:solidFill>
                  <a:srgbClr val="92400E"/>
                </a:solidFill>
              </a:rPr>
              <a:t>клиент / руководитель в курсе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0345C1-D406-42F1-8848-BD40C23B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532265-8B1E-4550-A172-309F7F05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FE4366-2665-437C-A6C6-CAA0F60C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Появилось новое определение суда. Система сохраняет документ, ставит заседание в календарь, создаёт задачу подготовить позицию и отправляет краткое уведомление ответственному.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E8532E-CD73-43BC-85A0-F0575E27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0"/>
            <a:ext cx="104203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582512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440E70-6330-47A3-B965-B6CA1B99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17">
            <a:extLst xmlns:a="http://schemas.openxmlformats.org/drawingml/2006/main">
              <a:ext uri="{FF2B5EF4-FFF2-40B4-BE49-F238E27FC236}">
                <a16:creationId xmlns:a16="http://schemas.microsoft.com/office/drawing/2014/main" id="{4380C7CA-C974-424E-A4C7-55B54EF1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D5EED-5BD7-42D1-8C8D-33483AEF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КЕЙС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87AC3-9EAD-4242-A6D6-D0497CA1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17</a:t>
            </a:r>
          </a:p>
        </p:txBody>
      </p:sp>
      <p:sp>
        <p:nvSpPr>
          <p:cNvPr id="5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8950834C-1462-4C48-A697-3B355E57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Панель руководителя и выявление новых автоматизаций</a:t>
            </a:r>
          </a:p>
        </p:txBody>
      </p:sp>
      <p:sp>
        <p:nvSpPr>
          <p:cNvPr id="6" name="slide-17-subtitle">
            <a:extLst xmlns:a="http://schemas.openxmlformats.org/drawingml/2006/main">
              <a:ext uri="{FF2B5EF4-FFF2-40B4-BE49-F238E27FC236}">
                <a16:creationId xmlns:a16="http://schemas.microsoft.com/office/drawing/2014/main" id="{F0D45711-7CB0-410D-8DDD-70A727A6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События из всех маршрутов показывают реальную нагрузку, просрочки, отклонения и процессы, которые пора автоматизировать.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CBB67-FFD2-4718-A08B-0C176CD3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2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Маршрут автоматизации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BD73983C-905E-4E64-AB2A-E0666709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147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F8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F4D77-C399-4DF6-A95B-F153114A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099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55E75"/>
                </a:solidFill>
              </a:defRPr>
            </a:pPr>
            <a:r>
              <a:rPr sz="1125" b="1" i="0">
                <a:solidFill>
                  <a:srgbClr val="155E75"/>
                </a:solidFill>
              </a:rPr>
              <a:t>нагрузка юристов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B4158-BC87-4DB6-9458-61B1F761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5280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64748B"/>
                </a:solidFill>
              </a:defRPr>
            </a:pPr>
            <a:r>
              <a:rPr sz="2100" b="1" i="0">
                <a:solidFill>
                  <a:srgbClr val="64748B"/>
                </a:solidFill>
              </a:rPr>
              <a:t>↘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5BE49A6C-5B69-43B9-84F4-963DB241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08C20-2C15-4AEC-998E-27AE2D0C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99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SLA и сроки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90693A97-C2EA-4166-8528-AB004B2F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531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FBD08-21A0-4637-8B05-8E64980E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483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7F1D1D"/>
                </a:solidFill>
              </a:defRPr>
            </a:pPr>
            <a:r>
              <a:rPr sz="1125" b="1" i="0">
                <a:solidFill>
                  <a:srgbClr val="7F1D1D"/>
                </a:solidFill>
              </a:rPr>
              <a:t>просрочки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3A6D4-E8B1-4E3A-ACAB-1DCB5F92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00600"/>
            <a:ext cx="285750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724B1-3B0F-48E2-9C92-662B5520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76900"/>
            <a:ext cx="2514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журнал событий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743EB-E7FE-4A3A-905C-CA51986F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57900"/>
            <a:ext cx="2514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6D6E2"/>
                </a:solidFill>
              </a:defRPr>
            </a:pPr>
            <a:r>
              <a:rPr sz="1050" b="0" i="0">
                <a:solidFill>
                  <a:srgbClr val="B6D6E2"/>
                </a:solidFill>
              </a:rPr>
              <a:t>распознаёт команду и запускает сценарий</a:t>
            </a:r>
          </a:p>
        </p:txBody>
      </p:sp>
      <p:sp>
        <p:nvSpPr>
          <p:cNvPr id="18" name="step-4">
            <a:extLst xmlns:a="http://schemas.openxmlformats.org/drawingml/2006/main">
              <a:ext uri="{FF2B5EF4-FFF2-40B4-BE49-F238E27FC236}">
                <a16:creationId xmlns:a16="http://schemas.microsoft.com/office/drawing/2014/main" id="{5095BC97-A542-42E6-B3AB-FA3374DB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265E7-B4FD-49D3-8575-C5B3C277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483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2400E"/>
                </a:solidFill>
              </a:defRPr>
            </a:pPr>
            <a:r>
              <a:rPr sz="1125" b="1" i="0">
                <a:solidFill>
                  <a:srgbClr val="92400E"/>
                </a:solidFill>
              </a:rPr>
              <a:t>отклонения</a:t>
            </a:r>
          </a:p>
        </p:txBody>
      </p:sp>
      <p:sp>
        <p:nvSpPr>
          <p:cNvPr id="20" name="step-5">
            <a:extLst xmlns:a="http://schemas.openxmlformats.org/drawingml/2006/main">
              <a:ext uri="{FF2B5EF4-FFF2-40B4-BE49-F238E27FC236}">
                <a16:creationId xmlns:a16="http://schemas.microsoft.com/office/drawing/2014/main" id="{95050CA2-6AC3-4278-B40D-9B87D688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210550"/>
            <a:ext cx="14859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E7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CCC06-1E8E-4FD0-8BA0-A67DCBF3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83058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1D95"/>
                </a:solidFill>
              </a:defRPr>
            </a:pPr>
            <a:r>
              <a:rPr sz="1125" b="1" i="0">
                <a:solidFill>
                  <a:srgbClr val="4C1D95"/>
                </a:solidFill>
              </a:rPr>
              <a:t>узкие места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E9B13-FBC2-4204-80F0-B5CDBE21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24865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64748B"/>
                </a:solidFill>
              </a:defRPr>
            </a:pPr>
            <a:r>
              <a:rPr sz="2100" b="1" i="0">
                <a:solidFill>
                  <a:srgbClr val="64748B"/>
                </a:solidFill>
              </a:rPr>
              <a:t>↗</a:t>
            </a:r>
          </a:p>
        </p:txBody>
      </p:sp>
      <p:sp>
        <p:nvSpPr>
          <p:cNvPr id="23" name="step-6">
            <a:extLst xmlns:a="http://schemas.openxmlformats.org/drawingml/2006/main">
              <a:ext uri="{FF2B5EF4-FFF2-40B4-BE49-F238E27FC236}">
                <a16:creationId xmlns:a16="http://schemas.microsoft.com/office/drawing/2014/main" id="{D82FD118-0464-4CFF-943E-78B77A63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134350"/>
            <a:ext cx="1485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B84CDA-96B9-4B3D-A0DD-E0A98A7D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822960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4E4A"/>
                </a:solidFill>
              </a:defRPr>
            </a:pPr>
            <a:r>
              <a:rPr sz="1125" b="1" i="0">
                <a:solidFill>
                  <a:srgbClr val="134E4A"/>
                </a:solidFill>
              </a:rPr>
              <a:t>новые автоматизации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0400F-6C92-41F7-A19C-90D6E5BC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962150"/>
            <a:ext cx="38100" cy="758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7E19B-C420-41CF-8F33-EADD8AB4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9621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Практический пример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85B585-8EA9-487C-9D94-6AFB096B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305050"/>
            <a:ext cx="5810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Руководитель видит, что 40% договорных запросов возвращаются из-за неполных данных. Следующая автоматизация — не новый чат, а форма договорного запроса с проверкой комплектности.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A59486-659A-47A9-9C8D-27BE2C0E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0"/>
            <a:ext cx="1042035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397229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167F71-6A00-4D11-901A-D0A93DA8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</p:spPr>
      </p:sp>
      <p:sp>
        <p:nvSpPr>
          <p:cNvPr id="2" name="header-mark-18">
            <a:extLst xmlns:a="http://schemas.openxmlformats.org/drawingml/2006/main">
              <a:ext uri="{FF2B5EF4-FFF2-40B4-BE49-F238E27FC236}">
                <a16:creationId xmlns:a16="http://schemas.microsoft.com/office/drawing/2014/main" id="{9878D4E7-6FED-4420-A55D-C853C5BD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B8FD3-54E8-4D32-BFD6-A2CDDE9E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ВЫГОДА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E4BD1-5999-4D28-A9F0-472BA728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52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18</a:t>
            </a:r>
          </a:p>
        </p:txBody>
      </p:sp>
      <p:sp>
        <p:nvSpPr>
          <p:cNvPr id="5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28F3FFC9-2C8E-4A55-94AA-7D0423AB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ПравоКонтур снижает ручную операционную нагрузку</a:t>
            </a:r>
          </a:p>
        </p:txBody>
      </p:sp>
      <p:sp>
        <p:nvSpPr>
          <p:cNvPr id="6" name="slide-18-subtitle">
            <a:extLst xmlns:a="http://schemas.openxmlformats.org/drawingml/2006/main">
              <a:ext uri="{FF2B5EF4-FFF2-40B4-BE49-F238E27FC236}">
                <a16:creationId xmlns:a16="http://schemas.microsoft.com/office/drawing/2014/main" id="{BD800D66-7149-4379-A205-653CE07A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91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34155"/>
                </a:solidFill>
              </a:defRPr>
            </a:pPr>
            <a:r>
              <a:rPr sz="1500" b="0" i="0">
                <a:solidFill>
                  <a:srgbClr val="334155"/>
                </a:solidFill>
              </a:rPr>
              <a:t>Для юридической фирмы — быстрее заявки и выше готовность к консультации. Для юрдепартамента — прозрачность, стандарты и сроки.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E91F3-5343-4A17-9CBD-1EA032A4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E6CA4-14E5-40C9-B42D-1C17A60A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681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F2937"/>
                </a:solidFill>
              </a:defRPr>
            </a:pPr>
            <a:r>
              <a:rPr sz="1575" b="1" i="0">
                <a:solidFill>
                  <a:srgbClr val="1F2937"/>
                </a:solidFill>
              </a:rPr>
              <a:t>меньше ручной работы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4DC19-97F0-4FFA-89E8-22F1AFDA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24D04-F91D-4966-861C-A216B0A0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681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F2937"/>
                </a:solidFill>
              </a:defRPr>
            </a:pPr>
            <a:r>
              <a:rPr sz="1575" b="1" i="0">
                <a:solidFill>
                  <a:srgbClr val="1F2937"/>
                </a:solidFill>
              </a:rPr>
              <a:t>быстрее первичная обработка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19293-4C2D-4EC7-AF60-30F65739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F2538-5C04-4209-9D08-F7C485F1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681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F2937"/>
                </a:solidFill>
              </a:defRPr>
            </a:pPr>
            <a:r>
              <a:rPr sz="1575" b="1" i="0">
                <a:solidFill>
                  <a:srgbClr val="1F2937"/>
                </a:solidFill>
              </a:rPr>
              <a:t>меньше потерь документов и сроков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0543B-74FC-41E4-80E8-ED9019C9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87A01-9925-4B53-B81A-197EFDA4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681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F2937"/>
                </a:solidFill>
              </a:defRPr>
            </a:pPr>
            <a:r>
              <a:rPr sz="1575" b="1" i="0">
                <a:solidFill>
                  <a:srgbClr val="1F2937"/>
                </a:solidFill>
              </a:rPr>
              <a:t>прозрачность работы юристов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B0E12-6F03-4B0E-BAD3-02483EDF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F18CB-FA76-422A-B12E-B73266AF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681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F2937"/>
                </a:solidFill>
              </a:defRPr>
            </a:pPr>
            <a:r>
              <a:rPr sz="1575" b="1" i="0">
                <a:solidFill>
                  <a:srgbClr val="1F2937"/>
                </a:solidFill>
              </a:rPr>
              <a:t>персональные маршруты под практику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E52D3-07BF-432C-BC0D-C94DA261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B2B1A-2206-49AD-8C83-0573C267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681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F2937"/>
                </a:solidFill>
              </a:defRPr>
            </a:pPr>
            <a:r>
              <a:rPr sz="1575" b="1" i="0">
                <a:solidFill>
                  <a:srgbClr val="1F2937"/>
                </a:solidFill>
              </a:rPr>
              <a:t>масштабирование без пропорционального роста штата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87AC9-5EEF-4517-A7A7-CE718365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943" y="1969770"/>
            <a:ext cx="4702629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21BDB-EDAA-42CF-A7F0-A66FED6A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До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2B634-0EF2-4370-BEE8-D07834D6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9571" y="1969770"/>
            <a:ext cx="4702629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DA088-0582-488E-BF8B-647FCCD0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209550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После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6EE1A-412E-4B20-BCAC-2946F465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943" y="2476500"/>
            <a:ext cx="4702629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3721FD-BE97-4E4B-AFA8-EF171D10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клиент ждёт звонка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1B046C-ACF5-463C-AFC5-21E52C11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9571" y="2476500"/>
            <a:ext cx="4702629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FFD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2D621-8D1D-4DC7-81C1-058E7DF8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262890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бот сразу собирает данные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22BC2B-7395-4265-B013-883D1963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943" y="2987040"/>
            <a:ext cx="4702629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E1FB2-1719-4C9E-8733-FF27FC5D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документы в папках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AFFD55-5D83-42AA-A45D-11F65BD3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9571" y="2987040"/>
            <a:ext cx="4702629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B6B07B-70FF-43B4-B185-DFD55AFF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14325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автоматическая сортировка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AE00A3-8616-488D-BAA3-A921AF84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943" y="3497580"/>
            <a:ext cx="4702629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EE1998-C54F-4A3A-9CC1-F687CF8E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5760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сроки в голове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A64CFE-C09A-419F-8B92-741F72CA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9571" y="3497580"/>
            <a:ext cx="4702629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FFD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F50E23-5226-43E8-8D0A-BA2DE5E2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65760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календарь и напоминания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4A39A1-A3B8-456E-94E5-3A70EF67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943" y="4008120"/>
            <a:ext cx="4702629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884189-9324-4F2E-98B1-F513207C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5290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ручные расчёты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38EF00-3624-47FC-B8A2-CCA89E9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9571" y="4008120"/>
            <a:ext cx="4702629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45D32B-C2C2-4CB7-BB27-9006A263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15290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формульный модуль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406FD4-9723-4FD1-B63F-017FABD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943" y="4518660"/>
            <a:ext cx="4702629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5CEA5C-1269-41E9-ADFB-26C3F909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6725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неясная нагрузка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7250AA-EF93-4981-B8A9-37F9775D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9571" y="4518660"/>
            <a:ext cx="4702629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FFD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1B6CE2-4DA9-4E49-8C58-3021D907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66725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панель руководителя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D81055-2733-4FE0-AAF1-4771ACB6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943" y="5029200"/>
            <a:ext cx="4702629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F7C7E3-802B-47C2-96DE-6509AD3F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8160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рост задач = рост штата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F0AD1A-6A03-400B-8866-6F9806C9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9571" y="5029200"/>
            <a:ext cx="4702629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F42B47-BD4B-4803-AD01-C9D1BDB0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18160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</a:defRPr>
            </a:pPr>
            <a:r>
              <a:rPr sz="1350" b="1" i="0">
                <a:solidFill>
                  <a:srgbClr val="0F766E"/>
                </a:solidFill>
              </a:rPr>
              <a:t>масштабирование без пропорционального найма</a:t>
            </a:r>
          </a:p>
        </p:txBody>
      </p:sp>
    </p:spTree>
    <p:extLst>
      <p:ext uri="{BB962C8B-B14F-4D97-AF65-F5344CB8AC3E}">
        <p14:creationId xmlns:p14="http://schemas.microsoft.com/office/powerpoint/2010/main" val="195247418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D679A-C184-4E89-A45F-4B9D174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2" name="header-mark-19">
            <a:extLst xmlns:a="http://schemas.openxmlformats.org/drawingml/2006/main">
              <a:ext uri="{FF2B5EF4-FFF2-40B4-BE49-F238E27FC236}">
                <a16:creationId xmlns:a16="http://schemas.microsoft.com/office/drawing/2014/main" id="{320079B3-C77D-4317-9656-106ABFB3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2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9C690-F06D-4169-AD44-BC8150FD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7F3F0"/>
                </a:solidFill>
              </a:defRPr>
            </a:pPr>
            <a:r>
              <a:rPr sz="1125" b="1" i="0">
                <a:solidFill>
                  <a:srgbClr val="A7F3F0"/>
                </a:solidFill>
              </a:rPr>
              <a:t>СВЯЗЬ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D91E7-7A05-4249-8BDE-C3B175C4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7239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748B"/>
                </a:solidFill>
              </a:defRPr>
            </a:pPr>
            <a:r>
              <a:rPr sz="1200" b="1" i="0">
                <a:solidFill>
                  <a:srgbClr val="64748B"/>
                </a:solidFill>
              </a:rPr>
              <a:t>19</a:t>
            </a:r>
          </a:p>
        </p:txBody>
      </p:sp>
      <p:sp>
        <p:nvSpPr>
          <p:cNvPr id="5" name="final-title">
            <a:extLst xmlns:a="http://schemas.openxmlformats.org/drawingml/2006/main">
              <a:ext uri="{FF2B5EF4-FFF2-40B4-BE49-F238E27FC236}">
                <a16:creationId xmlns:a16="http://schemas.microsoft.com/office/drawing/2014/main" id="{5FA2F8E7-2408-4B6E-940A-197CBBCB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5354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 i="0">
                <a:solidFill>
                  <a:srgbClr val="FFFFFF"/>
                </a:solidFill>
              </a:defRPr>
            </a:pPr>
            <a:r>
              <a:rPr sz="6900" b="1" i="0">
                <a:solidFill>
                  <a:srgbClr val="FFFFFF"/>
                </a:solidFill>
              </a:rPr>
              <a:t>ПравоКонтур</a:t>
            </a:r>
          </a:p>
        </p:txBody>
      </p:sp>
      <p:sp>
        <p:nvSpPr>
          <p:cNvPr id="6" name="final-claim">
            <a:extLst xmlns:a="http://schemas.openxmlformats.org/drawingml/2006/main">
              <a:ext uri="{FF2B5EF4-FFF2-40B4-BE49-F238E27FC236}">
                <a16:creationId xmlns:a16="http://schemas.microsoft.com/office/drawing/2014/main" id="{D50E7705-E36F-4BAC-AE68-1446AE23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1257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A7F3F0"/>
                </a:solidFill>
              </a:defRPr>
            </a:pPr>
            <a:r>
              <a:rPr sz="3150" b="1" i="0">
                <a:solidFill>
                  <a:srgbClr val="A7F3F0"/>
                </a:solidFill>
              </a:rPr>
              <a:t>юридические процессы без хаоса, ручной рутины и потерянных сроков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A90FC-D464-45AF-AFB9-FED7F5F1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505700"/>
            <a:ext cx="967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Открыты к сотрудничеству и пилотным проектам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5D264-6DBB-4559-A8AF-7DC62B0E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020050"/>
            <a:ext cx="9677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DCEAF2"/>
                </a:solidFill>
              </a:defRPr>
            </a:pPr>
            <a:r>
              <a:rPr sz="1725" b="0" i="0">
                <a:solidFill>
                  <a:srgbClr val="DCEAF2"/>
                </a:solidFill>
              </a:rPr>
              <a:t>Ищем партнёров и юридические команды, которым важно сократить рутину, повысить прозрачность процессов и сделать юридическую функцию технологичной.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91464-7767-4A18-8571-283A546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180" y="7509510"/>
            <a:ext cx="644652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2C72F-AE76-4132-B7AD-137579C7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696200"/>
            <a:ext cx="598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7F3F0"/>
                </a:solidFill>
              </a:defRPr>
            </a:pPr>
            <a:r>
              <a:rPr sz="1350" b="1" i="0">
                <a:solidFill>
                  <a:srgbClr val="A7F3F0"/>
                </a:solidFill>
              </a:rPr>
              <a:t>Telegram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11594-6300-47BC-B775-82D9B8E0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8020050"/>
            <a:ext cx="598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https://t.me/ustyuzhaninkirill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8D3CD-A12D-41A4-BBC9-8DCBC25B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180" y="8633460"/>
            <a:ext cx="6446520" cy="929640"/>
          </a:xfrm>
          <a:prstGeom xmlns:a="http://schemas.openxmlformats.org/drawingml/2006/main" prst="roundRect">
            <a:avLst>
              <a:gd name="adj" fmla="val 1844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9610C-6E34-4EB1-99DD-7CEEFABF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8820150"/>
            <a:ext cx="598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AE6FD"/>
                </a:solidFill>
              </a:defRPr>
            </a:pPr>
            <a:r>
              <a:rPr sz="1350" b="1" i="0">
                <a:solidFill>
                  <a:srgbClr val="BAE6FD"/>
                </a:solidFill>
              </a:rPr>
              <a:t>Email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D774C-AB2A-463E-B06D-28758227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91440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ustyuzhaninkirillred@gmail.com</a:t>
            </a:r>
          </a:p>
        </p:txBody>
      </p:sp>
    </p:spTree>
    <p:extLst>
      <p:ext uri="{BB962C8B-B14F-4D97-AF65-F5344CB8AC3E}">
        <p14:creationId xmlns:p14="http://schemas.microsoft.com/office/powerpoint/2010/main" val="1993103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2026-05-11T17:17:00.1690000Z</dcterms:created>
  <dcterms:modified xsi:type="dcterms:W3CDTF">2026-05-11T17:17:00.1690000Z</dcterms:modified>
</coreProperties>
</file>